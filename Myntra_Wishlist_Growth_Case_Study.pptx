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Relationship Id="rId3" Type="http://schemas.openxmlformats.org/officeDocument/2006/relationships/hyperlink" Target="https://aashritamalviya1999.github.io/Discovery-engine-Myntra/fitcheck.html?v=1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685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GROWTH PM CASE STUDY · MYNTRA</a:t>
            </a:r>
          </a:p>
          <a:p>
            <a:pPr>
              <a:spcAft>
                <a:spcPts val="1400"/>
              </a:spcAft>
              <a:defRPr sz="2800" b="1">
                <a:solidFill>
                  <a:srgbClr val="0F172A"/>
                </a:solidFill>
                <a:latin typeface="Inter"/>
              </a:defRPr>
            </a:pPr>
            <a:r>
              <a:t>Convert more wishlisters by resolving the last uncertainty — not by discounting.</a:t>
            </a:r>
          </a:p>
          <a:p>
            <a:pPr>
              <a:defRPr sz="1500">
                <a:solidFill>
                  <a:srgbClr val="475569"/>
                </a:solidFill>
                <a:latin typeface="Inter"/>
              </a:defRPr>
            </a:pPr>
            <a:r>
              <a:t>Smart Wishlist + FitCheck turns a passive save into a decision-ready state for high-intent apparel shoppers — and measures whether that confidence actually moves them to Bag and purchase within 30 days.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931920"/>
            <a:ext cx="24688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931920"/>
            <a:ext cx="73152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11D48"/>
                </a:solidFill>
              </a:defRPr>
            </a:pPr>
            <a:r>
              <a:t>51.3%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of analyzed conversations fell in high-intent / high-friction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931920"/>
            <a:ext cx="24688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3931920"/>
            <a:ext cx="73152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023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97706"/>
                </a:solidFill>
              </a:defRPr>
            </a:pPr>
            <a:r>
              <a:t>23/25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Fit uncertainty ranked #1 on opportunity rubric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931920"/>
            <a:ext cx="24688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93192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402336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5 / 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interviews surfaced fit / drape uncertainty</a:t>
            </a:r>
          </a:p>
        </p:txBody>
      </p:sp>
      <p:sp>
        <p:nvSpPr>
          <p:cNvPr id="13" name="Rounded Rectangle 12">
            <a:hlinkClick r:id="rId2"/>
          </p:cNvPr>
          <p:cNvSpPr/>
          <p:nvPr/>
        </p:nvSpPr>
        <p:spPr>
          <a:xfrm>
            <a:off x="640080" y="5577840"/>
            <a:ext cx="292608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AI Discovery Engine 🔗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3749039" y="5577840"/>
            <a:ext cx="228600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Live MVP 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No monetary incentives · 10-slide submission · live artefacts linked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548640"/>
            <a:ext cx="5120640" cy="6675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548640"/>
            <a:ext cx="91440" cy="6675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822960"/>
            <a:ext cx="457200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THE MECHANISM</a:t>
            </a:r>
          </a:p>
          <a:p>
            <a:pPr>
              <a:spcAft>
                <a:spcPts val="1600"/>
              </a:spcAft>
              <a:defRPr sz="2000" b="1">
                <a:solidFill>
                  <a:srgbClr val="0F172A"/>
                </a:solidFill>
              </a:defRPr>
            </a:pPr>
            <a:r>
              <a:t>From “Saved” to “Ready to Buy”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1. SAVED: </a:t>
            </a:r>
            <a:r>
              <a:rPr sz="1400">
                <a:solidFill>
                  <a:srgbClr val="334155"/>
                </a:solidFill>
              </a:rPr>
              <a:t>User has explicit interest, not commitment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2. FIT UNCERTAIN: </a:t>
            </a:r>
            <a:r>
              <a:rPr sz="1400">
                <a:solidFill>
                  <a:srgbClr val="334155"/>
                </a:solidFill>
              </a:rPr>
              <a:t>Cross-brand size / drape is unresolved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3. FIT RESOLVED: </a:t>
            </a:r>
            <a:r>
              <a:rPr sz="1400">
                <a:solidFill>
                  <a:srgbClr val="334155"/>
                </a:solidFill>
              </a:rPr>
              <a:t>FitCheck returns transparent confidence signal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4. READY TO BUY: </a:t>
            </a:r>
            <a:r>
              <a:rPr sz="1400">
                <a:solidFill>
                  <a:srgbClr val="334155"/>
                </a:solidFill>
              </a:rPr>
              <a:t>User decides; item becomes action-ready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5. BAG → PURCHASE: </a:t>
            </a:r>
            <a:r>
              <a:rPr sz="1400">
                <a:solidFill>
                  <a:srgbClr val="334155"/>
                </a:solidFill>
              </a:rPr>
              <a:t>Commitment advances toward 30-day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669280"/>
            <a:ext cx="4572000" cy="10972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5760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Thesis: decision confidence is the addressable growth lever.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BUSINESS METRIC DECOMPOSITION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business metric moves only when wishlisted users progress from intent to commitment.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The brief is user-level, so the North Star must also be user-level — not an SKU conversion proxy.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3350240" cy="9144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298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30-Day Wishlist Buyer Conversion = (Unique users who purchase ≥1 item they wishlisted within 30 days of that add) ÷ (Unique users with ≥1 eligible wishlist add in cohort window)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523744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1. Wishlist Revisit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Return to saved item in ≤7d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2834640"/>
            <a:ext cx="2523744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2971800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2. Decision Resolution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Fit / comparison doubt is resolved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834640"/>
            <a:ext cx="2523744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2971800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3. Wishlist →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Commit the shortlisted item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59951" y="2834640"/>
            <a:ext cx="2523744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1" y="2971800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4. Bag → Purchase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Complete the transaction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66576" y="2834640"/>
            <a:ext cx="2523744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03736" y="2971800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5. 30-Day Window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Do it before intent decays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64922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6126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11D48"/>
                </a:solidFill>
              </a:defRPr>
            </a:pPr>
            <a:r>
              <a:t>Where this project intervenes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High-intent users already like the item. FitCheck targets the two adjacent, controllable steps: resolve the decision blocker → increase Wishlist-to-Bag progression.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846320"/>
            <a:ext cx="6492240" cy="2468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5029200"/>
            <a:ext cx="6126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What we do NOT optimize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Generic wishlist adds or time-in-app. More saving is not success unless saved intent converts within 30 days.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AI-POWERED DISCOVERY ENGINE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discovery engine turns 1,500 messy conversations into ranked, traceable opportunities.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It classifies intent and friction separately, preserves provenance, and exposes the evidence behind every opportunity.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523744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1. INGEST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1,500 public conversations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737360"/>
            <a:ext cx="2523744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3864" y="1874519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2. STRUCTURE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14-field multi-label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737360"/>
            <a:ext cx="2523744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874519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3.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Intent × friction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9951" y="1737360"/>
            <a:ext cx="2523744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1" y="1874519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4. PRIORITIZE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Opportunity score /25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66576" y="1737360"/>
            <a:ext cx="2523744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03736" y="1874519"/>
            <a:ext cx="22494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5. AUDIT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Human review + explorer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8046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74980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A record becomes a decision-ready evidence object — not just a sentiment label.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E11D48"/>
                </a:solidFill>
              </a:rPr>
              <a:t> Intent: HIGH </a:t>
            </a:r>
            <a:r>
              <a:rPr b="1" sz="1400">
                <a:solidFill>
                  <a:srgbClr val="D97706"/>
                </a:solidFill>
              </a:rPr>
              <a:t>   Friction: FIT </a:t>
            </a:r>
            <a:r>
              <a:rPr b="1" sz="1400">
                <a:solidFill>
                  <a:srgbClr val="10B981"/>
                </a:solidFill>
              </a:rPr>
              <a:t>   Workaround: PAST ORDERS 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Why it matters: this lets the PM compare opportunity areas by purchase proximity, severity and addressability — while still drilling back to source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383280"/>
            <a:ext cx="5029200" cy="39319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56616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QUALITY CONTROL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300 records manually reviewed</a:t>
            </a:r>
          </a:p>
          <a:p>
            <a:pPr algn="ctr">
              <a:spcAft>
                <a:spcPts val="1800"/>
              </a:spcAft>
              <a:defRPr sz="1600" b="1">
                <a:solidFill>
                  <a:srgbClr val="F8FAFC"/>
                </a:solidFill>
              </a:defRPr>
            </a:pPr>
            <a:r>
              <a:t>270 / 300 label agreement = 90%</a:t>
            </a:r>
          </a:p>
        </p:txBody>
      </p:sp>
      <p:sp>
        <p:nvSpPr>
          <p:cNvPr id="18" name="Rounded Rectangle 17">
            <a:hlinkClick r:id="rId2"/>
          </p:cNvPr>
          <p:cNvSpPr/>
          <p:nvPr/>
        </p:nvSpPr>
        <p:spPr>
          <a:xfrm>
            <a:off x="9875520" y="6035040"/>
            <a:ext cx="320040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the engine live 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DISCOVERY FINDINGS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Fit uncertainty is the highest-value non-monetary wedge — not simply the most frequent complaint.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The engine separates purchase intent from friction, then scores opportunities on prevalence, intent proximity, severity, addressability and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Intent × friction distribution (n = 1,500)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017520" cy="155448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</a:defRPr>
            </a:pPr>
            <a:r>
              <a:t>51.3%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HIGH INTENT / HIGH FRICTION</a:t>
            </a:r>
            <a:br/>
            <a:r>
              <a:t>Primary growth target (n=770)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194560"/>
            <a:ext cx="3017520" cy="15544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2331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D97706"/>
                </a:solidFill>
              </a:defRPr>
            </a:pPr>
            <a:r>
              <a:t>22.0%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HIGH FRICTION</a:t>
            </a:r>
            <a:br/>
            <a:r>
              <a:t>Passive browsing (n=330)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3017520" cy="15544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0B981"/>
                </a:solidFill>
              </a:defRPr>
            </a:pPr>
            <a:r>
              <a:t>16.7%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HIGH INTENT / LOW FRICTION</a:t>
            </a:r>
            <a:br/>
            <a:r>
              <a:t>Waiting to execute (n=250)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931920"/>
            <a:ext cx="301752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40690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</a:defRPr>
            </a:pPr>
            <a:r>
              <a:t>10.0%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LOW FRICTION</a:t>
            </a:r>
            <a:br/>
            <a:r>
              <a:t>Mood-board archive (n=150)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Opportunity ranking (/25)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0" y="2194560"/>
          <a:ext cx="6675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737360"/>
              </a:tblGrid>
              <a:tr h="548640"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Opportunity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Breakdown (P I S A C)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Score &amp; Rank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54864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1. Size &amp; Fit Uncertainty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4  5  5  5  4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23 / 25 — #1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2. Comparison Paralysis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5  5  4  5  3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22 / 25 —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3. Product Reality / Quality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5  4  3  4  3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19 / 25 — #3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4. Price Volatility &amp;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4  4  4  2  3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17 / 25 —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5. Styling &amp; Wardrobe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3  4  3  3  3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16 / 25 — #5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40080" y="5852160"/>
            <a:ext cx="13350240" cy="13716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73152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298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Frequency ≠ priority. Fit wins because the affected users are closer to purchase, the friction is severe, and the problem is addressable without monetary incentives.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PRIMARY RESEARCH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Interviews narrowed the hypothesis: fit appeared in 5/6 journeys and was the primary blocker for 3/6.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Six wishlist walkthroughs reconstructed the path from “saved” to “researched” to “delayed / bought” for near-term purchase intent.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420624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931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 / 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mentioned fit or drape in decision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737360"/>
            <a:ext cx="4206240" cy="12801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0" y="1737360"/>
            <a:ext cx="73152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828800"/>
            <a:ext cx="3931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11D48"/>
                </a:solidFill>
              </a:defRPr>
            </a:pPr>
            <a:r>
              <a:t>3 / 6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identified fit/size as primary blocker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737360"/>
            <a:ext cx="420624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0" y="1737360"/>
            <a:ext cx="731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828800"/>
            <a:ext cx="3931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 / 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used an outside-app workaround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200400"/>
          <a:ext cx="6217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1645920"/>
                <a:gridCol w="2377440"/>
              </a:tblGrid>
              <a:tr h="600891"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P#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Wishlisted item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Primary blocker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Purchase Trigger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00891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Roadster jeans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/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Reliable fit comparison tool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0891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Anouk 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&amp; drape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User photo on similar height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HRX shoes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Side-by-side spec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0891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Libas kurti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Post-wash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Shrinkage rating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Allen Solly blazer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Fabric quality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Unedited close-up fabric photo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0894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Highlander cargos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Virtual outfit pairing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132320" y="3200400"/>
            <a:ext cx="6858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3200400"/>
            <a:ext cx="73152" cy="4206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38328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Observed workaround loop: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F172A"/>
                </a:solidFill>
              </a:rPr>
              <a:t>1. SAVE: </a:t>
            </a:r>
            <a:r>
              <a:rPr sz="1400">
                <a:solidFill>
                  <a:srgbClr val="334155"/>
                </a:solidFill>
              </a:rPr>
              <a:t>Specific item / size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F172A"/>
                </a:solidFill>
              </a:rPr>
              <a:t>2. LEAVE APP: </a:t>
            </a:r>
            <a:r>
              <a:rPr sz="1400">
                <a:solidFill>
                  <a:srgbClr val="334155"/>
                </a:solidFill>
              </a:rPr>
              <a:t>Reddit · YouTube · Instagram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F172A"/>
                </a:solidFill>
              </a:rPr>
              <a:t>3. TRIANGULATE: </a:t>
            </a:r>
            <a:r>
              <a:rPr sz="1400">
                <a:solidFill>
                  <a:srgbClr val="334155"/>
                </a:solidFill>
              </a:rPr>
              <a:t>Past orders · reviews · social proof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F172A"/>
                </a:solidFill>
              </a:rPr>
              <a:t>4. DELAY: </a:t>
            </a:r>
            <a:r>
              <a:rPr sz="1400">
                <a:solidFill>
                  <a:srgbClr val="334155"/>
                </a:solidFill>
              </a:rPr>
              <a:t>Still not confident enough to commit</a:t>
            </a:r>
          </a:p>
          <a:p>
            <a:pPr>
              <a:spcBef>
                <a:spcPts val="1000"/>
              </a:spcBef>
              <a:defRPr sz="1400" b="1" i="1">
                <a:solidFill>
                  <a:srgbClr val="E11D48"/>
                </a:solidFill>
              </a:defRPr>
            </a:pPr>
            <a:r>
              <a:t>“Roadster 30 is too tight; 32 slips off. I compared waist measurements from 3 previous orders.” — 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PROBLEM DEFINITION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root problem is not lack of desire — it is lack of trusted, personalized fit confidence at the commitment moment.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The thinking narrows consistently from the business metric to a specific user, moment, root cause and product outcome.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3350240" cy="13716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298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Problem Statement: </a:t>
            </a:r>
            <a:r>
              <a:rPr sz="1400">
                <a:solidFill>
                  <a:srgbClr val="FFFFFF"/>
                </a:solidFill>
              </a:rPr>
              <a:t>High-intent apparel shoppers with a near-term purchase goal delay moving a wishlisted item to Bag because they cannot confidently predict how their selected size will fit across brands — so they leave Myntra to triangulate fit from reviews, past orders and try-on content before committing.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4297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4747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WHO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High-intent apparel shoppers with a near-term purchase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3291840"/>
            <a:ext cx="4297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8384" y="34747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WHEN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Revisiting a specific saved SKU to decide “buy now or wait?”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10928" y="3291840"/>
            <a:ext cx="4297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93807" y="34747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ROOT CAUSE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Size labels are not trusted as personal, cross-brand fit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03520"/>
            <a:ext cx="4297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4864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WORKAROUND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Reddit / YouTube / Instagram + comparing previous kept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5303520"/>
            <a:ext cx="4297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54864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USER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Decide fit without leaving Myntra or ordering “just to try”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0928" y="5303520"/>
            <a:ext cx="42976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93807" y="54864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BUSINESS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Increase Wishlist → Bag; fit accuracy may also reduce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SOLUTION RATIONALE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Smart Wishlist + FitCheck resolves the declared blocker inside the wishlist, then hands control back to the user.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The core MVP is a decision-confidence loop — not a discount, coupon, or forced checkout nudge.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5237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1. FIT ANCHOR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Confirm kept size: Roadster 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737360"/>
            <a:ext cx="25237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3864" y="1874519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2. WAITING ON FIT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Declare blocker: Waiting on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737360"/>
            <a:ext cx="25237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874519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3. FITCHECK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Explain + recommend 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9951" y="1737360"/>
            <a:ext cx="2523744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1" y="1874519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11D48"/>
                </a:solidFill>
              </a:defRPr>
            </a:pPr>
            <a:r>
              <a:t>4. READY TO BUY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Resolve condition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66576" y="1737360"/>
            <a:ext cx="25237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03736" y="1874519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5. MOVE TO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Shopper commits &amp; 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6492240" cy="2834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6126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Why this fits the brief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No subsidy. No coupon. The value is informational: translate fit evidence into a personal recommendation, then let the shopper decide.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749039"/>
            <a:ext cx="6492240" cy="28346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931920"/>
            <a:ext cx="6126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Scope discipline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Price / Both are expansion modes in the prototype. The causal experiment isolates Fit-only.</a:t>
            </a:r>
          </a:p>
        </p:txBody>
      </p:sp>
      <p:sp>
        <p:nvSpPr>
          <p:cNvPr id="18" name="Rounded Rectangle 17">
            <a:hlinkClick r:id="rId2"/>
          </p:cNvPr>
          <p:cNvSpPr/>
          <p:nvPr/>
        </p:nvSpPr>
        <p:spPr>
          <a:xfrm>
            <a:off x="11247120" y="6766560"/>
            <a:ext cx="274320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Launch live MVP 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DEPLOYED MVP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deployed MVP is intentionally thin: it proves the decision-resolution loop before investing in real fit ML.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A top-scoring MVP is explicit about what is functional, what is simulated, and exactly what learning it unlocks.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64922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Functional in the live prototype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Set and save a Fit Anchor profile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Declare the blocker: Fit / Price / Both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Run a FitCheck decision event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Transition the item to “Ready to Buy”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Move the resolved item to Bag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22960" y="5486400"/>
            <a:ext cx="256032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live MVP 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737360"/>
            <a:ext cx="6492240" cy="44805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92024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Not production-ready yet — by design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Real order / return-history ingestion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Production fit model + category calibration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Live inventory / price event integrations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Notification preferences + frequency caps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Learned confidence thresholds + abstention logic</a:t>
            </a:r>
          </a:p>
          <a:p>
            <a:pPr>
              <a:spcBef>
                <a:spcPts val="800"/>
              </a:spcBef>
              <a:defRPr sz="1400" b="1">
                <a:solidFill>
                  <a:srgbClr val="D97706"/>
                </a:solidFill>
              </a:defRPr>
            </a:pPr>
            <a:r>
              <a:t>Transparency prevents “prototype theatre”: MVP validates mechanism.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400800"/>
            <a:ext cx="1335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37960"/>
            <a:ext cx="12984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60-second evaluator path: [1] Set anchor → [2] Choose Fit → [3] Run FitCheck → [4] See Ready → [5] Move to Bag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DEFINE SUCCESS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Success is a causal lift in 30-day wishlist buyers, with faster fit-to-bag progression and no return penalty.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The metric stack separates business impact, mechanism validation, leading indicators and guardrails — each with a clear decision 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4297680" cy="146304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74519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BUSINESS METRIC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30-Day Wishlist Buyer Conversion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75504" y="1737360"/>
            <a:ext cx="4297680" cy="14630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384" y="1874519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PRIMARY MECHANISM</a:t>
            </a:r>
          </a:p>
          <a:p>
            <a:pPr>
              <a:defRPr sz="1600" b="1">
                <a:solidFill>
                  <a:srgbClr val="FFF1F2"/>
                </a:solidFill>
              </a:defRPr>
            </a:pPr>
            <a:r>
              <a:t>Fit-Resolved → Bag within 72h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10928" y="1737360"/>
            <a:ext cx="4297680" cy="1463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93807" y="1874519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KEY GUARDRAIL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Fit-related return rate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383280"/>
          <a:ext cx="13350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4937760"/>
              </a:tblGrid>
              <a:tr h="670560"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7056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Anchor adoption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fit-tagged users with a usable fit anchor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Can users reach the value moment?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resolution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FitChecks returning a decisive, explainable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Does system actually resolve uncertainty?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Median wishlist → Bag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Hours from wishlist add / revisit to Bag for fit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Is decision latency shrinking?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Wishlist add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Eligible users adding ≥1 item to wishlist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Ensure extra friction does not suppress saving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Recommendation disagreement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users who override / reject the suggested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Early trust and calibration signal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35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RISKS &amp; MITIGATION</a:t>
            </a:r>
          </a:p>
          <a:p>
            <a:pPr>
              <a:spcAft>
                <a:spcPts val="4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The biggest failure mode is false confidence; rollout should privilege abstention, trust and learning over reach.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The solution fails if it pushes users faster into wrong-size orders, creates setup friction, or generalizes a narrow research sample too aggressively.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3350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97280"/>
                <a:gridCol w="4389120"/>
                <a:gridCol w="4572000"/>
              </a:tblGrid>
              <a:tr h="685800"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Why it could happen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/ rollout gate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8580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False fit confidence →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Overconfident reasoning without measurement truth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Confidence bands + "not enough evidence" state · pilot stable categories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setup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Manual multi-field setup delays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Auto-suggest from kept orders contextually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Cold start / sparse brand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New brands/categories lack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Blend size charts + material; abstain below threshold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Research sample does not generalize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6 interviews are 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User-level A/B test before full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fatigue / trust erosion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"Ready to Buy" nudges can feel pushy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Trigger only on condition change · frequency cap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6035040"/>
            <a:ext cx="13350240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298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Rollout principle: Earn trust before reach: offline calibration → Fit-only pilot → category expansion. “A wishlist should manage the decision, not just remember the product.”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589520"/>
            <a:ext cx="1335024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3524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Wishlist-to-Purchase Growth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763524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
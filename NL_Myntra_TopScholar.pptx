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Relationship Id="rId3" Type="http://schemas.openxmlformats.org/officeDocument/2006/relationships/hyperlink" Target="https://aashritamalviya1999.github.io/Discovery-engine-Myntra/fitcheck.html?v=10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?v=10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ashritamalviya1999.github.io/Discovery-engine-Myntra/fitcheck.html?v=1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GROWTH PM CASE STUDY · MYNTRA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Convert High-Intent Wishlisters by Resolving Size &amp; Fit Uncertainty — Without Monetary Subsidies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Wishlist adds are a stronger-than-browse interest signal, but purchase intent varies across user segments.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EXECUTIVE SUMMARY &amp; STRATEGIC THESIS: </a:t>
            </a:r>
            <a:r>
              <a:rPr sz="1400">
                <a:solidFill>
                  <a:srgbClr val="FFFFFF"/>
                </a:solidFill>
              </a:rPr>
              <a:t>Wishlist items represent high purchase desire, yet conversion stalls because shoppers cannot predict cross-brand fit drape without physically trying on garments. By deploying FitCheck — a personalized fit-confidence experience that uses a known-good past fit as an anchor to estimate confidence on a new item — Myntra bridges the gap from 'Saved' to 'Ready to Buy' without relying on discount subsidies or margin erosion.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926080"/>
            <a:ext cx="73152" cy="18288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E11D48"/>
                </a:solidFill>
              </a:defRPr>
            </a:pPr>
            <a:r>
              <a:t>51.3%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High Intent / High Friction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770 / 1,500 conversations fall into the segment closest to purchase but blocked by friction.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7639" y="2926080"/>
            <a:ext cx="73152" cy="1828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23 / 25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Opportunity Rubric #1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Ranked #1 on intent proximity, severity, and non-monetary addressability.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926080"/>
            <a:ext cx="73152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83% (5/6)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Surfaced Fit/Drape Doubt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5/6 interviewees surfaced fit uncertainty; 3/6 (50%) cited it as primary #1 blocker.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35640" y="2926080"/>
            <a:ext cx="32461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835640" y="2926080"/>
            <a:ext cx="73152" cy="1828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3017520"/>
            <a:ext cx="2971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Outside-App Workarounds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All 6 participants used outside-app workarounds to resolve fit uncertainty before deciding.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6217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TESTABLE ARTEFACTS &amp; LIVE PROTOTYPES</a:t>
            </a:r>
          </a:p>
          <a:p>
            <a:pPr>
              <a:spcAft>
                <a:spcPts val="1200"/>
              </a:spcAft>
              <a:defRPr sz="1400">
                <a:solidFill>
                  <a:srgbClr val="334155"/>
                </a:solidFill>
              </a:defRPr>
            </a:pPr>
            <a:r>
              <a:t>Publicly accessible tools built specifically for this case study submission: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731520" y="6035040"/>
            <a:ext cx="283464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Discovery Engine 🔗</a:t>
            </a:r>
          </a:p>
        </p:txBody>
      </p:sp>
      <p:sp>
        <p:nvSpPr>
          <p:cNvPr id="22" name="Rounded Rectangle 21">
            <a:hlinkClick r:id="rId3"/>
          </p:cNvPr>
          <p:cNvSpPr/>
          <p:nvPr/>
        </p:nvSpPr>
        <p:spPr>
          <a:xfrm>
            <a:off x="3749039" y="6035040"/>
            <a:ext cx="28346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Open Live Deployed MVP 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937760"/>
            <a:ext cx="71323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4937760"/>
            <a:ext cx="91440" cy="25603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5074920"/>
            <a:ext cx="6675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END-TO-END CONVERSION FLOW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1. DISCOVERY: </a:t>
            </a:r>
            <a:r>
              <a:rPr sz="1400">
                <a:solidFill>
                  <a:srgbClr val="334155"/>
                </a:solidFill>
              </a:rPr>
              <a:t>1,500 public conversations classified into Intent × Friction quadrants.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2. RESEARCH: </a:t>
            </a:r>
            <a:r>
              <a:rPr sz="1400">
                <a:solidFill>
                  <a:srgbClr val="334155"/>
                </a:solidFill>
              </a:rPr>
              <a:t>6 qualitative walkthroughs isolate cross-brand size distrust.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3. FITCHECK ENGINE: </a:t>
            </a:r>
            <a:r>
              <a:rPr sz="1400">
                <a:solidFill>
                  <a:srgbClr val="334155"/>
                </a:solidFill>
              </a:rPr>
              <a:t>Garment attributes matched against user's known-good fit anchor.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4. READY TO BUY: </a:t>
            </a:r>
            <a:r>
              <a:rPr sz="1400">
                <a:solidFill>
                  <a:srgbClr val="334155"/>
                </a:solidFill>
              </a:rPr>
              <a:t>Wishlist item flips to action-ready state upon confidence signal.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E11D48"/>
                </a:solidFill>
              </a:rPr>
              <a:t>5. 30D CONVERSION: </a:t>
            </a:r>
            <a:r>
              <a:rPr sz="1400">
                <a:solidFill>
                  <a:srgbClr val="334155"/>
                </a:solidFill>
              </a:rPr>
              <a:t>User moves item to Bag &amp; signals stronger purchase commitment.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BUSINESS METRIC DECOMPOSITION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Wishlist-to-Bag Progression Is the Primary Growth Lever for 30-Day Conversion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Decomposing the business North Star into controllable product outcomes, user drop-off stages, and non-goals.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9144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316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30-Day Wishlist Buyer Conversion = (Unique users purchasing ≥1 item they wishlisted within 30 days of adding it) ÷ (Unique cohort users with ≥1 eligible wishlist add)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6032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Behavioral drivers of 30D conversion: Wishlist Revisit → Intent Persistence → Decision Confidence → Wishlist to Bag → Bag to Purchase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1. Wishlist Revisit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Return to saved item ≤7 days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Drop-off: ~25%*</a:t>
            </a:r>
            <a:br/>
            <a:r>
              <a:t>Passive retention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2. Decision Resolution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Fit / drape uncertainty resolved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Drop-off: ~48%*</a:t>
            </a:r>
            <a:br/>
            <a:r>
              <a:t>LARGEST BLOCKER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108960"/>
            <a:ext cx="2560320" cy="16459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</a:defRPr>
            </a:pPr>
            <a:r>
              <a:t>3. Wishlist → Bag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Commit shortlisted SKU to Bag</a:t>
            </a:r>
          </a:p>
          <a:p>
            <a:pPr>
              <a:defRPr sz="1400" b="1">
                <a:solidFill>
                  <a:srgbClr val="E11D48"/>
                </a:solidFill>
              </a:defRPr>
            </a:pPr>
            <a:r>
              <a:t>Target Lift: +14%*</a:t>
            </a:r>
            <a:br/>
            <a:r>
              <a:t>Primary Outcome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4. Bag → Purchase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Complete checkout transaction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Drop-off: ~12%*</a:t>
            </a:r>
            <a:br/>
            <a:r>
              <a:t>Standard friction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21440" y="310896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58600" y="320040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5. 30-Day Cohort</a:t>
            </a:r>
          </a:p>
          <a:p>
            <a:pPr>
              <a:spcAft>
                <a:spcPts val="400"/>
              </a:spcAft>
              <a:defRPr sz="1400">
                <a:solidFill>
                  <a:srgbClr val="334155"/>
                </a:solidFill>
              </a:defRPr>
            </a:pPr>
            <a:r>
              <a:t>Complete purchase within window</a:t>
            </a:r>
          </a:p>
          <a:p>
            <a:pPr>
              <a:defRPr sz="1400" b="1">
                <a:solidFill>
                  <a:srgbClr val="475569"/>
                </a:solidFill>
              </a:defRPr>
            </a:pPr>
            <a:r>
              <a:t>Cohort Lifetime</a:t>
            </a:r>
            <a:br/>
            <a:r>
              <a:t>Intent retention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667512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73152" cy="2651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11D48"/>
                </a:solidFill>
              </a:defRPr>
            </a:pPr>
            <a:r>
              <a:t>STRATEGIC INTERVENTION FOCUS: WISHLIST →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For the fit-focused cohort, product interest is established; unresolved fit confidence remains the primary decision barrier.</a:t>
            </a:r>
            <a:br/>
            <a:r>
              <a:t>• Wishlist → Bag is the stage with the largest, most addressable drop-off (~48% of high-intent saved items are never added to Bag).</a:t>
            </a:r>
            <a:br/>
            <a:r>
              <a:t>• FitCheck targets the two adjacent, controllable friction steps: resolve fit doubt → accelerate Wishlist-to-Bag conversion without monetary discounts.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846320"/>
            <a:ext cx="6675120" cy="26517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4846320"/>
            <a:ext cx="73152" cy="2651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4983480"/>
            <a:ext cx="6309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EXPLICIT NON-GOALS &amp; BOUNDARIES (*BASELINE TO VALIDATE)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We do NOT optimize generic wishlist additions or total app time. More bookmarking is not business success unless intent converts within 30 days.</a:t>
            </a:r>
            <a:br/>
            <a:r>
              <a:t>• We do NOT issue price cuts, coupons, or cashback incentives. The strategic constraint requires solving user decision uncertainty natively.</a:t>
            </a:r>
            <a:br/>
            <a:r>
              <a:t>• *Note: Funnel percentages represent baseline hypotheses to validate after internal Myntra product analytics instrumentation.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AI-POWERED DISCOVERY ENGINE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An Automated NLP Pipeline Classifying 1,500 Public Conversations into Intent × Friction Evidence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Ingesting unstructured posts from Reddit, Play Store, and fashion forums into structured, decision-ready evidence objects.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INGESTION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1,500 public posts from Reddit, App/Play Store, YouTube reviews.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STRUCTURE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14-field multi-label schema (Intent, Friction, Workaround, Need).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LLM-tagged segmentation into 4 Intent × Friction quadrants.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4. PRIORITIZE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Opportunity scoring: Prevalence + Intent + Severity + Addressability + Confidence /25.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AUDIT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300 records manually audited; 90% AI–human label agreement.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80467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73152" cy="40233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7680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</a:defRPr>
            </a:pPr>
            <a:r>
              <a:t>STRUCTURED EVIDENCE OBJECT SAMPLE (RECORD #842)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E11D48"/>
                </a:solidFill>
              </a:rPr>
              <a:t> Intent: HIGH </a:t>
            </a:r>
            <a:r>
              <a:rPr b="1" sz="1400">
                <a:solidFill>
                  <a:srgbClr val="D97706"/>
                </a:solidFill>
              </a:rPr>
              <a:t>   Friction: SIZE / FIT </a:t>
            </a:r>
            <a:r>
              <a:rPr b="1" sz="1400">
                <a:solidFill>
                  <a:srgbClr val="10B981"/>
                </a:solidFill>
              </a:rPr>
              <a:t>   Workaround: PAST ORDERS </a:t>
            </a:r>
            <a:r>
              <a:rPr b="1" sz="1400">
                <a:solidFill>
                  <a:srgbClr val="0F172A"/>
                </a:solidFill>
              </a:rPr>
              <a:t>   Source: REDDIT 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Verbatim Post Snippet: "I love these Roadster slim jeans on Myntra, but size 30 is too tight around waist and 32 slips down. I've left them saved for 2 weeks while comparing waist measurements against 3 previous orders."</a:t>
            </a:r>
            <a:br/>
            <a:r>
              <a:t>• Model Inference: Intent Proximity = 0.94 (Near-term purchase); Friction Severity = High; Solvability = Non-Monetary Fit Anchor.</a:t>
            </a:r>
            <a:br/>
            <a:r>
              <a:t>• Value to PM: Enables systematic quantitative comparison across friction categories while maintaining strict provenance back to raw user feedback.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474720"/>
            <a:ext cx="5303520" cy="40233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6118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QUALITY CONTROL &amp; MODEL AUDIT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300 Records Manually Audited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8FAFC"/>
                </a:solidFill>
              </a:defRPr>
            </a:pPr>
            <a:r>
              <a:t>270 / 300 Matched = 90% Agreement</a:t>
            </a:r>
          </a:p>
          <a:p>
            <a:pPr>
              <a:spcAft>
                <a:spcPts val="1600"/>
              </a:spcAft>
              <a:defRPr sz="1400">
                <a:solidFill>
                  <a:srgbClr val="CBD5E1"/>
                </a:solidFill>
              </a:defRPr>
            </a:pPr>
            <a:r>
              <a:t>• Measured: 270/300 records matched on primary Intent + Friction labels (90% AI–human label agreement).</a:t>
            </a:r>
            <a:br/>
            <a:r>
              <a:t>• Stack: Python + GPT-4o API + GitHub Pages Explorer</a:t>
            </a:r>
            <a:br/>
            <a:r>
              <a:t>• Provenance links maintained for full auditability.</a:t>
            </a:r>
          </a:p>
        </p:txBody>
      </p:sp>
      <p:sp>
        <p:nvSpPr>
          <p:cNvPr id="19" name="Rounded Rectangle 18">
            <a:hlinkClick r:id="rId2"/>
          </p:cNvPr>
          <p:cNvSpPr/>
          <p:nvPr/>
        </p:nvSpPr>
        <p:spPr>
          <a:xfrm>
            <a:off x="9784080" y="6126480"/>
            <a:ext cx="329184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Discovery Engine Live 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DISCOVERY ENGINE FINDINGS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Size &amp; Fit Uncertainty Ranks #1 — High Purchase Proximity and Non-Monetary Addressability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Segmenting 1,500 conversations by Intent × Friction and scoring opportunity areas on a 25-point PM rubric.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INTENT × FRICTION SEGMENTATION (n = 1,500)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017520" cy="16459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FFFFFF"/>
                </a:solidFill>
              </a:defRPr>
            </a:pPr>
            <a:r>
              <a:t>51.3%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HIGH INTENT / HIGH FRICTION</a:t>
            </a:r>
            <a:br/>
            <a:r>
              <a:t>51.3% (n=770) fall into High Intent / High Friction — the primary segment for conversion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2011680"/>
            <a:ext cx="3017520" cy="1645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D97706"/>
                </a:solidFill>
              </a:defRPr>
            </a:pPr>
            <a:r>
              <a:t>22.0%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HIGH FRICTION</a:t>
            </a:r>
            <a:br/>
            <a:r>
              <a:t>Passive Browsing (n=330): Casual window shopping &amp; price watching.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840480"/>
            <a:ext cx="3017520" cy="1645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10B981"/>
                </a:solidFill>
              </a:defRPr>
            </a:pPr>
            <a:r>
              <a:t>16.7%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HIGH INTENT / LOW FRICTION</a:t>
            </a:r>
            <a:br/>
            <a:r>
              <a:t>Waiting to Execute (n=250): High desire, awaiting payday/event 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840480"/>
            <a:ext cx="301752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39776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600" b="1">
                <a:solidFill>
                  <a:srgbClr val="0F172A"/>
                </a:solidFill>
              </a:defRPr>
            </a:pPr>
            <a:r>
              <a:t>10.0%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LOW INTENT / LOW FRICTION</a:t>
            </a:r>
            <a:br/>
            <a:r>
              <a:t>Mood-Board Archive (n=150): Long-term outfit bookmarking.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6459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OPPORTUNITY PRIORITIZATION RUBRIC (P · I · S · A · C /25 TOTAL)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32320" y="201168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1828800"/>
              </a:tblGrid>
              <a:tr h="548640"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Opportunity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  I  S  A  C Breakdown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Score &amp; Status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1. Size &amp; Fit Uncertainty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I:5  S:5  A:5  C:4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23 / 25 — #1 (PRIMARY WEDGE)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2. Comparison Paralysis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I:5  S:4  A:5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22 / 25 — #2 (Backlog)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3. Product Quality / Real Photo Void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P:5  I:4  S:3  A:4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19 / 25 — #3 (Backlog)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4. Price Volatility &amp;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P:4  I:4  S:4  A:2  C:3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17 / 25 — #4 (Monetary Boundary)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5. Styling &amp; Wardrobe Match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P:3  I:4  S:3  A:3  C:3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16 / 25 — #5 (Low Priority)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132320" y="5394960"/>
            <a:ext cx="694944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5440680"/>
            <a:ext cx="6766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Legend: P = Prevalence · I = Intent proximity · S = Severity · A = Addressability · C = Confidence (1–5 each)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52160"/>
            <a:ext cx="13533120" cy="13716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852160"/>
            <a:ext cx="73152" cy="13716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316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KEY TAKEAWAY: FREQUENCY ≠ PRIORITY FOR GROWTH INTERVENTION</a:t>
            </a:r>
            <a:br/>
            <a:r>
              <a:t>Comparison friction appears slightly more often across browsing, but Size &amp; Fit Uncertainty ranks #1 overall because affected users are closest to purchase, their friction is severe, and the problem is addressable without monetary discounts.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PRIMARY RESEARCH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6 Wishlist Walkthroughs Reveal Users Leave Myntra to Resolve Fit Uncertainty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Reconstructing user decision paths from 'Saved' to 'Researched' to 'Stalled / Purchased' for near-term purchase intent.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 / 6 (83%)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surfaced size/drape uncertainty in decision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1645920"/>
            <a:ext cx="4297680" cy="11887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60" y="1645920"/>
            <a:ext cx="73152" cy="118872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11D48"/>
                </a:solidFill>
              </a:defRPr>
            </a:pPr>
            <a:r>
              <a:t>3 / 6 (50%)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named cross-brand fit as their primary blocker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645920"/>
            <a:ext cx="429768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0" y="1645920"/>
            <a:ext cx="73152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691640"/>
            <a:ext cx="40233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 / 6 (100%)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used outside-app workarounds to resolve uncertainty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1353312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2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USER DECISION JOURNEY: Wishlist Add → 'Will this fit me?' → External Research → Still Uncertain → Delayed Purchase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429000"/>
          <a:ext cx="8046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005840"/>
                <a:gridCol w="1463040"/>
                <a:gridCol w="1645920"/>
                <a:gridCol w="1645920"/>
                <a:gridCol w="1828800"/>
              </a:tblGrid>
              <a:tr h="548640"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P#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Saved SKU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Stated Blocker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Outside Workaround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Required Purchase Trigger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Roadster Jeans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Fit / size (30 vs 32)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Compared 3 past orders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Reliable fit comparison tool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Anouk Kurta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Bust/shoulder drape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YouTube try-on hauls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Real model height/body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(22)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HRX Shoes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Foot width / sizing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Reddit sizing threads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Side-by-side spec comparison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Female 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Libas Kurti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Post-wash shrinkage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Read negative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Shrinkage rating guarantee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(27)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Allen Solly Blazer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Arm length / shoulder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Ordered 2 sizes to return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Precise shoulder anchor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Male (23)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Highlander Cargos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Waist fit / length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Asked friends on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Virtual outfit drape preview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778240" y="3429000"/>
            <a:ext cx="530352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3429000"/>
            <a:ext cx="73152" cy="38404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5204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USERS LEAVE MYNTRA TO RESOLVE FIT UNCERTAINTY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1. SAVE ITEM: </a:t>
            </a:r>
            <a:r>
              <a:rPr sz="1400">
                <a:solidFill>
                  <a:srgbClr val="334155"/>
                </a:solidFill>
              </a:rPr>
              <a:t>User saves specific SKU &amp; size in wishlist.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2. EXIT MYNTRA: </a:t>
            </a:r>
            <a:r>
              <a:rPr sz="1400">
                <a:solidFill>
                  <a:srgbClr val="334155"/>
                </a:solidFill>
              </a:rPr>
              <a:t>Leaves app to search Reddit, YouTube, Instagram.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3. TRIANGULATE: </a:t>
            </a:r>
            <a:r>
              <a:rPr sz="1400">
                <a:solidFill>
                  <a:srgbClr val="334155"/>
                </a:solidFill>
              </a:rPr>
              <a:t>Compares past kept orders &amp; customer reviews.</a:t>
            </a:r>
          </a:p>
          <a:p>
            <a:pPr>
              <a:spcAft>
                <a:spcPts val="200"/>
              </a:spcAft>
            </a:pPr>
            <a:r>
              <a:rPr b="1" sz="1400">
                <a:solidFill>
                  <a:srgbClr val="0F172A"/>
                </a:solidFill>
              </a:rPr>
              <a:t>4. STALL CHECKOUT: </a:t>
            </a:r>
            <a:r>
              <a:rPr sz="1400">
                <a:solidFill>
                  <a:srgbClr val="334155"/>
                </a:solidFill>
              </a:rPr>
              <a:t>Remains uncertain, delays purchase, intent decays.</a:t>
            </a:r>
          </a:p>
          <a:p>
            <a:pPr>
              <a:spcBef>
                <a:spcPts val="400"/>
              </a:spcBef>
              <a:defRPr sz="1400" b="1" i="1">
                <a:solidFill>
                  <a:srgbClr val="E11D48"/>
                </a:solidFill>
              </a:defRPr>
            </a:pPr>
            <a:r>
              <a:t>“I love this pair of Roadster jeans, but my waist size is 31 — Roadster 30 is too tight and 32 slips off. I left it saved for 2 weeks while comparing waist measurements from 3 previous kept orders.” — P1 (Walkthrough Interview)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PROBLEM DEFINITION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High-Intent Shoppers Stall at Commitment Because Cross-Brand Size Labels Don't Translate into Personal Fit Confidence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Synthesizing findings across Business Metric → Product Outcome → AI Discovery → Primary Research → Problem Statement.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t>EVIDENCE CHAIN: 30D Buyer Conversion → Wishlist to Bag → AI Discovery (Fit #1 23/25) → Interviews (5/6 Surface Fit) → Root Cause (Cross-Brand Size Distrust)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3533120" cy="118872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D97706"/>
                </a:solidFill>
              </a:rPr>
              <a:t>CORE PROBLEM STATEMENT: </a:t>
            </a:r>
            <a:r>
              <a:rPr sz="1400">
                <a:solidFill>
                  <a:srgbClr val="FFFFFF"/>
                </a:solidFill>
              </a:rPr>
              <a:t>High-intent apparel shoppers with a near-term purchase goal delay moving wishlisted items to Bag because they cannot confidently predict how their selected size will fit across different brands — forcing them to leave Myntra to triangulate fit from external reviews, past purchases, and try-on content before committing.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TARGET USER SEGMENT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High-intent Myntra apparel shoppers who have shortlisted specific SKUs with near-term purchase intent.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7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21807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DECISION TRIGGER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Revisiting saved items to evaluate checkout readiness for an upcoming event, season change, or wardrobe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29215" y="338328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2095" y="356616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CORE ROOT OBSTACLE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Inability to translate standard size labels (S/M/L or 30/32) into personalized fit guidance.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EXISTING WORKAROUND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Leaving Myntra to browse Reddit sizing threads, Instagram try-ons, YouTube hauls, or measuring past orders.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7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7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USER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Confidently resolve fit &amp; size decisions quickly in one in-app flow without ordering multiple sizes to return.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29215" y="5394960"/>
            <a:ext cx="4352544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5" y="5577840"/>
            <a:ext cx="398678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EXPECTED BUSINESS VALUE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Increases Wishlist-to-Bag conversion rate, shortens decision latency, and reduces fit-related returns downstream.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SOLUTION RATIONALE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Smart Wishlist + FitCheck Resolves Declared Blocker Inside the Wishlist — No Discounts Required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Designing a native decision-confidence loop that empowers shoppers to declare obstacles and receive personalized fit recommendations.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1. FIT ANCHOR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confirms 1 kept item profile (e.g., Roadster 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2. DECLARE BLOCKER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tags SKU: 'Waiting on Fit'.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3. FITCHECK ENGINE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FitCheck compares available product attributes with user's known-good fit anchor.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645920"/>
            <a:ext cx="2560320" cy="18288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4. READY TO BUY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Wishlist state transitions upon confidence signal.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52144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58600" y="1737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</a:defRPr>
            </a:pPr>
            <a:r>
              <a:t>5. MOVE TO BAG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User moves item to Bag, signaling stronger purchase commitment.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6675120" cy="2926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73152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WHY THIS FITS THE NON-MONETARY STRATEGIC BRIEF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Zero Subsidy &amp; Zero Margin Erosion: The solution does not rely on price slashes, coupons, or cashback nudges.</a:t>
            </a:r>
            <a:br/>
            <a:r>
              <a:t>• Pure Informational Value: Converts raw product reviews and kept order data into personal size confidence, solving the exact friction that stalls high-intent shoppers.</a:t>
            </a:r>
            <a:br/>
            <a:r>
              <a:t>• Handing Control to User: Users explicitly state what they are waiting for, transforming wishlist from passive storage into an active decision dashboard.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657600"/>
            <a:ext cx="6675120" cy="29260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657600"/>
            <a:ext cx="73152" cy="2926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794760"/>
            <a:ext cx="6309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97706"/>
                </a:solidFill>
              </a:defRPr>
            </a:pPr>
            <a:r>
              <a:t>SCOPE DISCIPLINE &amp; EXPERIMENTAL CONTROL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Isolated Causal Experiment: The FitCheck MVP isolates Fit-only to measure pure decision confidence uplift.</a:t>
            </a:r>
            <a:br/>
            <a:r>
              <a:t>• Architecture Extensibility: Architecture can later support other declared blockers such as organic price events; excluded from the Fit MVP experiment.</a:t>
            </a:r>
            <a:br/>
            <a:r>
              <a:t>• Testable Artefact: Prototype deployed and accessible live.</a:t>
            </a:r>
          </a:p>
        </p:txBody>
      </p:sp>
      <p:sp>
        <p:nvSpPr>
          <p:cNvPr id="20" name="Rounded Rectangle 19">
            <a:hlinkClick r:id="rId2"/>
          </p:cNvPr>
          <p:cNvSpPr/>
          <p:nvPr/>
        </p:nvSpPr>
        <p:spPr>
          <a:xfrm>
            <a:off x="10972800" y="6766560"/>
            <a:ext cx="310896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Launch Live MVP Prototype 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DEPLOYED MVP PROTOTYPE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Demonstrating the Decision-Resolution &amp; State-Transition Mechanism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Testing the non-monetary decision-confidence loop before investing engineering in real-time fit ML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6751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73152" cy="47548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</a:defRPr>
            </a:pPr>
            <a:r>
              <a:t>INTERACTIVE MVP UI EXPERIENCE &amp; FLOW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E11D48"/>
                </a:solidFill>
              </a:rPr>
              <a:t>1. FIT ANCHOR: </a:t>
            </a:r>
            <a:r>
              <a:rPr sz="1400">
                <a:solidFill>
                  <a:srgbClr val="334155"/>
                </a:solidFill>
              </a:rPr>
              <a:t>User inputs known-good fit item: [Roadster Slim Jeans - Size 30 M]. Saved as personal reference anchor.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D97706"/>
                </a:solidFill>
              </a:rPr>
              <a:t>2. FITCHECK SIGNAL: </a:t>
            </a:r>
            <a:r>
              <a:rPr sz="1400">
                <a:solidFill>
                  <a:srgbClr val="334155"/>
                </a:solidFill>
              </a:rPr>
              <a:t>User taps 'Run FitCheck' on saved Anouk Dress. System compares garment specs against anchor → Returns 94% High Confidence match.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10B981"/>
                </a:solidFill>
              </a:rPr>
              <a:t>3. READY TO BUY STATE: </a:t>
            </a:r>
            <a:r>
              <a:rPr sz="1400">
                <a:solidFill>
                  <a:srgbClr val="334155"/>
                </a:solidFill>
              </a:rPr>
              <a:t>Item status flips from 'Waiting on Fit' to 'Ready to Buy'. One-tap 'Move to Bag' CTA unlocked without monetary discounts.</a:t>
            </a:r>
          </a:p>
        </p:txBody>
      </p:sp>
      <p:sp>
        <p:nvSpPr>
          <p:cNvPr id="7" name="Rounded Rectangle 6">
            <a:hlinkClick r:id="rId2"/>
          </p:cNvPr>
          <p:cNvSpPr/>
          <p:nvPr/>
        </p:nvSpPr>
        <p:spPr>
          <a:xfrm>
            <a:off x="731520" y="5669280"/>
            <a:ext cx="2926080" cy="59436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Test Live Deployed MVP 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45920"/>
            <a:ext cx="6675120" cy="475488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78308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97706"/>
                </a:solidFill>
              </a:defRPr>
            </a:pPr>
            <a:r>
              <a:t>LIVE TODAY IN MVP vs SIMULATED FOR PRODUCTION</a:t>
            </a: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LIVE TODAY IN MVP: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Set &amp; Save Fit Anchor Profile (Brand, Size, Height, Body preference)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Declare Blocker Tag on Wishlist SKUs (Waiting on Fit / Price / Both)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Run FitCheck and generate a fit-confidence result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Transition Wishlist Item State from 'Waiting on Fit' to 'Ready to Buy'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✓ Execute One-Tap 'Move to Bag' Action for Resolved Items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</a:p>
          <a:p>
            <a:pPr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SIMULATED / PRODUCTION BACKLOG: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• Real-time kept order &amp; return history API ingestion</a:t>
            </a:r>
          </a:p>
          <a:p>
            <a:pPr>
              <a:spcAft>
                <a:spcPts val="400"/>
              </a:spcAft>
              <a:defRPr sz="1400">
                <a:solidFill>
                  <a:srgbClr val="CBD5E1"/>
                </a:solidFill>
              </a:defRPr>
            </a:pPr>
            <a:r>
              <a:t>• Multi-category production ML garment measurement calibration model</a:t>
            </a:r>
          </a:p>
          <a:p>
            <a:pPr>
              <a:spcBef>
                <a:spcPts val="600"/>
              </a:spcBef>
              <a:defRPr sz="1400" b="1">
                <a:solidFill>
                  <a:srgbClr val="D97706"/>
                </a:solidFill>
              </a:defRPr>
            </a:pPr>
            <a:r>
              <a:t>MVP validates the core decision loop and state transition; production ML accuracy remains an explicit validation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6492240"/>
            <a:ext cx="1353312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9400"/>
            <a:ext cx="1316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60-SECOND EVALUATOR TESTING PATH: [1] Set Fit Anchor → [2] Select Item &amp; Tag 'Waiting on Fit' → [3] Click FitCheck → [4] See 'Ready to Buy' State → [5] Move to Bag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DEFINE SUCCESS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We scale only if FitCheck lifts 30-day conversion without increasing fit-related returns.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Structuring metrics into business impact, mechanism validation, leading indicators, and guardrails.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4352544" cy="137160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3986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BUSINESS NORTH STAR METRIC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30-Day Wishlist Buyer Conversion Rate (% unique wishlist users purchasing ≥1 saved SKU)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8927" y="1645920"/>
            <a:ext cx="4352544" cy="13716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21807" y="1691640"/>
            <a:ext cx="3986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FFFFF"/>
                </a:solidFill>
              </a:defRPr>
            </a:pPr>
            <a:r>
              <a:t>PRIMARY MECHANISM METRIC</a:t>
            </a:r>
          </a:p>
          <a:p>
            <a:pPr>
              <a:defRPr sz="1400" b="1">
                <a:solidFill>
                  <a:srgbClr val="FFF1F2"/>
                </a:solidFill>
              </a:defRPr>
            </a:pPr>
            <a:r>
              <a:t>Condition-Resolved to Bag Rate (% of fit-tagged items moved to Bag within 72h)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29215" y="1645920"/>
            <a:ext cx="4352544" cy="13716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12095" y="1691640"/>
            <a:ext cx="39867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</a:defRPr>
            </a:pPr>
            <a:r>
              <a:t>KEY GUARDRAIL METRIC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Fit-Related Return Rate (Must remain flat or drop; ensures fit accuracy)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08960"/>
            <a:ext cx="1353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73152" cy="109728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11D48"/>
                </a:solidFill>
              </a:defRPr>
            </a:pPr>
            <a:r>
              <a:t>CAUSAL A/B TEST EXPERIMENT DESIGN &amp; SAMPLE RIGOR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Population: High-intent apparel wishlisters with ≥1 eligible fit-sensitive SKU   • Control: Existing Wishlist   • Treatment: Wishlist + FitCheck</a:t>
            </a:r>
            <a:br/>
            <a:r>
              <a:t>• Randomization: User-level A/B split   • Evaluation Window: 30 days   • Sample Size: Determined through power analysis using Myntra's baseline conversion and predefined minimum detectable effect (MDE).</a:t>
            </a:r>
            <a:br/>
            <a:r>
              <a:t>• Decision Rule: Launch only if 30-Day Conversion rises without inflating fit returns.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4297680"/>
          <a:ext cx="13533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4937760"/>
                <a:gridCol w="4023360"/>
              </a:tblGrid>
              <a:tr h="457200"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Metric Name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Exact Definition / Formula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Target / PM Rationale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45720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Adoption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fit-tagged users with a saved anchor 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Blocker Declaration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saved items tagged with specific blocker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Pilot hypothesis — to be calibrated post-baseline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Resolution Coverage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eligible FitChecks receiving recommendations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Measures system ability to return confident calls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Leading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Post-Purchase Fit Agreement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purchases where users report fit was accurate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Direct measure of fit recommendation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Wishlist Add Suppression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Total wishlist additions per user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Must not decrease (verifies no added friction)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Guardrail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Opt-Out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% users disabling FitCheck reminders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Prevents notification fatigue and trust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3533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E11D48"/>
                </a:solidFill>
                <a:latin typeface="Inter"/>
              </a:defRPr>
            </a:pPr>
            <a:r>
              <a:t>RISKS &amp; MITIGATION</a:t>
            </a:r>
          </a:p>
          <a:p>
            <a:pPr>
              <a:spcAft>
                <a:spcPts val="200"/>
              </a:spcAft>
              <a:defRPr sz="2100" b="1">
                <a:solidFill>
                  <a:srgbClr val="0F172A"/>
                </a:solidFill>
                <a:latin typeface="Inter"/>
              </a:defRPr>
            </a:pPr>
            <a:r>
              <a:t>Mitigating False Fit Confidence, Setup Friction, and Cold Start Through Phased Rollout</a:t>
            </a:r>
          </a:p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Evaluating potential failure modes, business risks, and defining strict rollout gating principles.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13533120" cy="5486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73152" cy="5486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CRITICAL RISK: False fit confidence can turn a stalled wishlist into a costly return — worse than doing nothing.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914400"/>
                <a:gridCol w="1005840"/>
                <a:gridCol w="3657600"/>
                <a:gridCol w="5029200"/>
              </a:tblGrid>
              <a:tr h="640080"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Risk Area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  <a:tc>
                  <a:txBody>
                    <a:bodyPr lIns="109728" rIns="109728" tIns="54864" bIns="54864"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Mitigation Strategy &amp; Rollout Gate</a:t>
                      </a:r>
                    </a:p>
                  </a:txBody>
                  <a:tcPr>
                    <a:solidFill>
                      <a:srgbClr val="1B264F"/>
                    </a:solidFill>
                  </a:tcPr>
                </a:tc>
              </a:tr>
              <a:tr h="640080"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False Fit Confidence → High Returns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AI overconfident without garment specs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Abstain below a calibrated confidence threshold; show confidence bands; gate rollout on return rate.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Fit Anchor Setup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D97706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Manual multi-field input deters 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Auto-infer anchor from kept orders; ask contextually when user adds item to wishlist.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Cold Start / Sparse Brand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E11D48"/>
                          </a:solidFill>
                          <a:latin typeface="Inter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New brands or niche categories lack fit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Blend size charts + material elasticity; output 'Not Enough Evidence' state instead of guessing.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Research Sample Generalization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6 qualitative interviews are directional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Determine sample size through power analysis using baseline conversion and predefined MDE; segment by category.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09728" rIns="109728"/>
                    <a:lstStyle/>
                    <a:p>
                      <a:pPr>
                        <a:defRPr b="1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Notification Fatigue / Nudge Erosion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Repeated 'Ready to Buy' alerts feel spammy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 rIns="109728"/>
                    <a:lstStyle/>
                    <a:p>
                      <a:pPr>
                        <a:defRPr b="0" sz="1400">
                          <a:solidFill>
                            <a:srgbClr val="0F172A"/>
                          </a:solidFill>
                          <a:latin typeface="Inter"/>
                        </a:defRPr>
                      </a:pPr>
                      <a:r>
                        <a:t>Cap reminders to 1 per week per user; digest updates into weekly wishlist recap; 1-tap opt-out.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6126480"/>
            <a:ext cx="13533120" cy="1280160"/>
          </a:xfrm>
          <a:prstGeom prst="roundRect">
            <a:avLst/>
          </a:prstGeom>
          <a:solidFill>
            <a:srgbClr val="1B2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612648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3167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ROLLOUT PRINCIPLE: EARN TRUST BEFORE REACH</a:t>
            </a:r>
            <a:br/>
            <a:r>
              <a:t>Offline data calibration → Pilot in stable categories (Jeans &amp; Ethnicwear) → Validate return guardrails → Category expansion. 'A wishlist should actively resolve decisions, not just store products.'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7635240"/>
            <a:ext cx="1353312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7680960"/>
            <a:ext cx="91440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r>
              <a:t>Myntra · Growth PM Case Study · Wishlist-to-Purchase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7680960"/>
            <a:ext cx="27432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400" b="1">
                <a:solidFill>
                  <a:srgbClr val="475569"/>
                </a:solidFill>
                <a:latin typeface="Inter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
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ashritamalviya1999.github.io/Discovery-engine-Myntra/?v=10" TargetMode="External"/><Relationship Id="rId3" Type="http://schemas.openxmlformats.org/officeDocument/2006/relationships/hyperlink" Target="https://aashritamalviya1999.github.io/Discovery-engine-Myntra/fitcheck.html?v=10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ashritamalviya1999.github.io/Discovery-engine-Myntra/?v=10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ashritamalviya1999.github.io/Discovery-engine-Myntra/fitcheck.html?v=10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ashritamalviya1999.github.io/Discovery-engine-Myntra/fitcheck.html?v=10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3533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  <a:latin typeface="Inter"/>
              </a:defRPr>
            </a:pPr>
            <a:r>
              <a:t>GROWTH PM CASE STUDY · MYNTRA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Inter"/>
              </a:defRPr>
            </a:pPr>
            <a:r>
              <a:t>Convert High-Intent Wishlisters by Resolving Size &amp; Fit Uncertainty — Without Monetary Subsidies</a:t>
            </a:r>
          </a:p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Wishlist adds are a stronger-than-browse interest signal, but purchase intent varies across user segments.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3533120" cy="1188720"/>
          </a:xfrm>
          <a:prstGeom prst="roundRect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91440" cy="1188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316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D97706"/>
                </a:solidFill>
              </a:rPr>
              <a:t>EXECUTIVE SUMMARY &amp; STRATEGIC THESIS: </a:t>
            </a:r>
            <a:r>
              <a:rPr sz="1400">
                <a:solidFill>
                  <a:srgbClr val="FFFFFF"/>
                </a:solidFill>
              </a:rPr>
              <a:t>Among high-intent wishlisters, conversion can stall even after product interest is established because shoppers cannot confidently predict cross-brand fit. FitCheck uses a known-good past fit as an anchor to provide personalized fit confidence, helping users progress from Saved to Ready to Buy without discounts or margin erosion.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926080"/>
            <a:ext cx="32461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926080"/>
            <a:ext cx="73152" cy="18288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01752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E11D48"/>
                </a:solidFill>
              </a:defRPr>
            </a:pPr>
            <a:r>
              <a:t>51.3%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High Intent / High Friction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770 / 1,500 conversations fall into the segment closest to purchase but blocked by friction.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2926080"/>
            <a:ext cx="32461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77639" y="2926080"/>
            <a:ext cx="73152" cy="1828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301752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D97706"/>
                </a:solidFill>
              </a:defRPr>
            </a:pPr>
            <a:r>
              <a:t>23 / 25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Opportunity Rubric #1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Ranked #1 on intent proximity, severity, and non-monetary addressability.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2926080"/>
            <a:ext cx="32461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926080"/>
            <a:ext cx="73152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301752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10B981"/>
                </a:solidFill>
              </a:defRPr>
            </a:pPr>
            <a:r>
              <a:t>83% (5/6)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Surfaced Fit/Drape Doubt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5/6 interviewees surfaced fit uncertainty; 3/6 (50%) cited it as their primary blocker.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835640" y="2926080"/>
            <a:ext cx="32461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835640" y="2926080"/>
            <a:ext cx="73152" cy="1828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0" y="301752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0F172A"/>
                </a:solidFill>
              </a:defRPr>
            </a:pPr>
            <a:r>
              <a:t>6 / 6 (100%)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Outside-App Workarounds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All 6 participants used outside-app workarounds to resolve fit uncertainty before deciding.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37760"/>
            <a:ext cx="621792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07492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TESTABLE ARTEFACTS &amp; LIVE PROTOTYPES</a:t>
            </a:r>
          </a:p>
          <a:p>
            <a:pPr>
              <a:spcAft>
                <a:spcPts val="1200"/>
              </a:spcAft>
              <a:defRPr sz="1400">
                <a:solidFill>
                  <a:srgbClr val="334155"/>
                </a:solidFill>
              </a:defRPr>
            </a:pPr>
            <a:r>
              <a:t>Publicly accessible tools built specifically for this case study submission:</a:t>
            </a:r>
          </a:p>
        </p:txBody>
      </p:sp>
      <p:sp>
        <p:nvSpPr>
          <p:cNvPr id="21" name="Rounded Rectangle 20">
            <a:hlinkClick r:id="rId2"/>
          </p:cNvPr>
          <p:cNvSpPr/>
          <p:nvPr/>
        </p:nvSpPr>
        <p:spPr>
          <a:xfrm>
            <a:off x="731520" y="6035040"/>
            <a:ext cx="2834640" cy="5943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Open Discovery Engine 🔗</a:t>
            </a:r>
          </a:p>
        </p:txBody>
      </p:sp>
      <p:sp>
        <p:nvSpPr>
          <p:cNvPr id="22" name="Rounded Rectangle 21">
            <a:hlinkClick r:id="rId3"/>
          </p:cNvPr>
          <p:cNvSpPr/>
          <p:nvPr/>
        </p:nvSpPr>
        <p:spPr>
          <a:xfrm>
            <a:off x="3749039" y="6035040"/>
            <a:ext cx="2834640" cy="59436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Open Live Deployed MVP 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0" y="4937760"/>
            <a:ext cx="7132320" cy="2560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49440" y="4937760"/>
            <a:ext cx="91440" cy="256032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78040" y="5074920"/>
            <a:ext cx="6675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11D48"/>
                </a:solidFill>
              </a:defRPr>
            </a:pPr>
            <a:r>
              <a:t>END-TO-END CONVERSION FLOW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E11D48"/>
                </a:solidFill>
              </a:rPr>
              <a:t>1. DISCOVERY: </a:t>
            </a:r>
            <a:r>
              <a:rPr sz="1400">
                <a:solidFill>
                  <a:srgbClr val="334155"/>
                </a:solidFill>
              </a:rPr>
              <a:t>1,500 public conversations classified into Intent × Friction quadrants.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E11D48"/>
                </a:solidFill>
              </a:rPr>
              <a:t>2. RESEARCH: </a:t>
            </a:r>
            <a:r>
              <a:rPr sz="1400">
                <a:solidFill>
                  <a:srgbClr val="334155"/>
                </a:solidFill>
              </a:rPr>
              <a:t>6 qualitative walkthroughs isolate cross-brand size distrust.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E11D48"/>
                </a:solidFill>
              </a:rPr>
              <a:t>3. FITCHECK ENGINE: </a:t>
            </a:r>
            <a:r>
              <a:rPr sz="1400">
                <a:solidFill>
                  <a:srgbClr val="334155"/>
                </a:solidFill>
              </a:rPr>
              <a:t>Garment attributes matched against user's known-good fit anchor.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E11D48"/>
                </a:solidFill>
              </a:rPr>
              <a:t>4. READY TO BUY: </a:t>
            </a:r>
            <a:r>
              <a:rPr sz="1400">
                <a:solidFill>
                  <a:srgbClr val="334155"/>
                </a:solidFill>
              </a:rPr>
              <a:t>Wishlist item flips to action-ready state upon confidence signal.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E11D48"/>
                </a:solidFill>
              </a:rPr>
              <a:t>5. 30D CONVERSION: </a:t>
            </a:r>
            <a:r>
              <a:rPr sz="1400">
                <a:solidFill>
                  <a:srgbClr val="334155"/>
                </a:solidFill>
              </a:rPr>
              <a:t>User moves item to Bag &amp; signals stronger purchase commitment.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7635240"/>
            <a:ext cx="1353312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768096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Myntra · Growth PM Case Study · Wishlist-to-Purchase Conversion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768096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475569"/>
                </a:solidFill>
                <a:latin typeface="Inter"/>
              </a:defRPr>
            </a:pPr>
            <a: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3533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  <a:latin typeface="Inter"/>
              </a:defRPr>
            </a:pPr>
            <a:r>
              <a:t>BUSINESS METRIC DECOMPOSITION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Inter"/>
              </a:defRPr>
            </a:pPr>
            <a:r>
              <a:t>Wishlist-to-Bag Progression Is the Primary Growth Lever for 30-Day Conversion</a:t>
            </a:r>
          </a:p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Decomposing the business North Star into controllable product outcomes, user drop-off stages, and non-goals.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3533120" cy="914400"/>
          </a:xfrm>
          <a:prstGeom prst="roundRect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73152" cy="914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316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30-Day Wishlist Buyer Conversion = (Unique users purchasing ≥1 item they wishlisted within 30 days of adding it) ÷ (Unique cohort users with ≥1 eligible wishlist add)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60320"/>
            <a:ext cx="1353312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1316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Behavioral drivers of 30D conversion: Wishlist Revisit → Intent Persistence → Decision Confidence → Wishlist to Bag → Bag to Purchase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08960"/>
            <a:ext cx="25603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20040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F172A"/>
                </a:solidFill>
              </a:defRPr>
            </a:pPr>
            <a:r>
              <a:t>1. Wishlist Revisit</a:t>
            </a:r>
          </a:p>
          <a:p>
            <a:pPr>
              <a:spcAft>
                <a:spcPts val="400"/>
              </a:spcAft>
              <a:defRPr sz="1400">
                <a:solidFill>
                  <a:srgbClr val="334155"/>
                </a:solidFill>
              </a:defRPr>
            </a:pPr>
            <a:r>
              <a:t>Return to saved item ≤7 days</a:t>
            </a:r>
          </a:p>
          <a:p>
            <a:pPr>
              <a:defRPr sz="1400" b="1">
                <a:solidFill>
                  <a:srgbClr val="475569"/>
                </a:solidFill>
              </a:defRPr>
            </a:pPr>
            <a:r>
              <a:t>Drop-off: ~25%*</a:t>
            </a:r>
            <a:br/>
            <a:r>
              <a:t>Passive retention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3108960"/>
            <a:ext cx="2560320" cy="164592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320040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</a:defRPr>
            </a:pPr>
            <a:r>
              <a:t>2. Decision Resolution</a:t>
            </a:r>
          </a:p>
          <a:p>
            <a:pPr>
              <a:spcAft>
                <a:spcPts val="400"/>
              </a:spcAft>
              <a:defRPr sz="1400">
                <a:solidFill>
                  <a:srgbClr val="334155"/>
                </a:solidFill>
              </a:defRPr>
            </a:pPr>
            <a:r>
              <a:t>Fit / drape uncertainty resolved</a:t>
            </a:r>
          </a:p>
          <a:p>
            <a:pPr>
              <a:defRPr sz="1400" b="1">
                <a:solidFill>
                  <a:srgbClr val="E11D48"/>
                </a:solidFill>
              </a:defRPr>
            </a:pPr>
            <a:r>
              <a:t>Drop-off: ~48%*</a:t>
            </a:r>
            <a:br/>
            <a:r>
              <a:t>LARGEST BLOCKER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3108960"/>
            <a:ext cx="2560320" cy="164592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20040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</a:defRPr>
            </a:pPr>
            <a:r>
              <a:t>3. Wishlist → Bag</a:t>
            </a:r>
          </a:p>
          <a:p>
            <a:pPr>
              <a:spcAft>
                <a:spcPts val="400"/>
              </a:spcAft>
              <a:defRPr sz="1400">
                <a:solidFill>
                  <a:srgbClr val="334155"/>
                </a:solidFill>
              </a:defRPr>
            </a:pPr>
            <a:r>
              <a:t>Commit shortlisted SKU to Bag</a:t>
            </a:r>
          </a:p>
          <a:p>
            <a:pPr>
              <a:defRPr sz="1400" b="1">
                <a:solidFill>
                  <a:srgbClr val="E11D48"/>
                </a:solidFill>
              </a:defRPr>
            </a:pPr>
            <a:r>
              <a:t>Primary Outcome</a:t>
            </a:r>
            <a:br/>
            <a:r>
              <a:t>Goal: Uplift vs control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0" y="3108960"/>
            <a:ext cx="25603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15400" y="320040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F172A"/>
                </a:solidFill>
              </a:defRPr>
            </a:pPr>
            <a:r>
              <a:t>4. Bag → Purchase</a:t>
            </a:r>
          </a:p>
          <a:p>
            <a:pPr>
              <a:spcAft>
                <a:spcPts val="400"/>
              </a:spcAft>
              <a:defRPr sz="1400">
                <a:solidFill>
                  <a:srgbClr val="334155"/>
                </a:solidFill>
              </a:defRPr>
            </a:pPr>
            <a:r>
              <a:t>Complete checkout transaction</a:t>
            </a:r>
          </a:p>
          <a:p>
            <a:pPr>
              <a:defRPr sz="1400" b="1">
                <a:solidFill>
                  <a:srgbClr val="475569"/>
                </a:solidFill>
              </a:defRPr>
            </a:pPr>
            <a:r>
              <a:t>Drop-off: ~12%*</a:t>
            </a:r>
            <a:br/>
            <a:r>
              <a:t>Standard friction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521440" y="3108960"/>
            <a:ext cx="25603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658600" y="320040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F172A"/>
                </a:solidFill>
              </a:defRPr>
            </a:pPr>
            <a:r>
              <a:t>5. 30-Day Cohort</a:t>
            </a:r>
          </a:p>
          <a:p>
            <a:pPr>
              <a:spcAft>
                <a:spcPts val="400"/>
              </a:spcAft>
              <a:defRPr sz="1400">
                <a:solidFill>
                  <a:srgbClr val="334155"/>
                </a:solidFill>
              </a:defRPr>
            </a:pPr>
            <a:r>
              <a:t>Complete purchase within window</a:t>
            </a:r>
          </a:p>
          <a:p>
            <a:pPr>
              <a:defRPr sz="1400" b="1">
                <a:solidFill>
                  <a:srgbClr val="475569"/>
                </a:solidFill>
              </a:defRPr>
            </a:pPr>
            <a:r>
              <a:t>Cohort Lifetime</a:t>
            </a:r>
            <a:br/>
            <a:r>
              <a:t>Intent retention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846320"/>
            <a:ext cx="667512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846320"/>
            <a:ext cx="73152" cy="26517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983480"/>
            <a:ext cx="6309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11D48"/>
                </a:solidFill>
              </a:defRPr>
            </a:pPr>
            <a:r>
              <a:t>STRATEGIC INTERVENTION FOCUS: WISHLIST → BAG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• For the fit-focused cohort, product interest is established; unresolved fit confidence remains the primary decision barrier.</a:t>
            </a:r>
            <a:br/>
            <a:r>
              <a:t>• Wishlist → Bag is the stage with the largest, most addressable drop-off (~48% of high-intent saved items are never added to Bag).</a:t>
            </a:r>
            <a:br/>
            <a:r>
              <a:t>• FitCheck targets the two adjacent, controllable friction steps: resolve fit doubt → accelerate Wishlist-to-Bag conversion without monetary discounts.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0" y="4846320"/>
            <a:ext cx="6675120" cy="265176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06640" y="4846320"/>
            <a:ext cx="73152" cy="26517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0" y="4983480"/>
            <a:ext cx="6309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D97706"/>
                </a:solidFill>
              </a:defRPr>
            </a:pPr>
            <a:r>
              <a:t>EXPLICIT NON-GOALS &amp; BOUNDARIES (*BASELINE TO VALIDATE)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• We do NOT optimize generic wishlist additions or total app time. More bookmarking is not business success unless intent converts within 30 days.</a:t>
            </a:r>
            <a:br/>
            <a:r>
              <a:t>• We do NOT issue price cuts, coupons, or cashback incentives. The strategic constraint requires solving user decision uncertainty natively.</a:t>
            </a:r>
            <a:br/>
            <a:r>
              <a:t>• *Note: Funnel percentages represent baseline hypotheses to validate after internal Myntra product analytics instrumentation.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7635240"/>
            <a:ext cx="1353312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768096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Myntra · Growth PM Case Study · Wishlist-to-Purchase Conversion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768096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475569"/>
                </a:solidFill>
                <a:latin typeface="Inter"/>
              </a:defRPr>
            </a:pPr>
            <a: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3533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  <a:latin typeface="Inter"/>
              </a:defRPr>
            </a:pPr>
            <a:r>
              <a:t>AI-POWERED DISCOVERY ENGINE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Inter"/>
              </a:defRPr>
            </a:pPr>
            <a:r>
              <a:t>An Automated NLP Pipeline Classifying 1,500 Public Conversations into Intent × Friction Evidence</a:t>
            </a:r>
          </a:p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Ingesting unstructured posts from Reddit, Play Store, and fashion forums into structured, decision-ready evidence objects.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25603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1. INGESTION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1,500 public posts from Reddit, App/Play Store, YouTube reviews.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645920"/>
            <a:ext cx="25603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173736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2. STRUCTURE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14-field multi-label schema (Intent, Friction, Workaround, Need).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645920"/>
            <a:ext cx="25603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73736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3. SEGMENT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LLM-tagged segmentation into 4 Intent × Friction quadrants.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1645920"/>
            <a:ext cx="25603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15400" y="173736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4. PRIORITIZE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Opportunity scoring: Prevalence + Intent + Severity + Addressability + Confidence /25.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521440" y="1645920"/>
            <a:ext cx="25603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58600" y="173736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5. AUDIT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300 records manually audited; 90% AI–human label agreement.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474720"/>
            <a:ext cx="804672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474720"/>
            <a:ext cx="73152" cy="40233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611880"/>
            <a:ext cx="7680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STRUCTURED EVIDENCE OBJECT SAMPLE (RECORD #842)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E11D48"/>
                </a:solidFill>
              </a:rPr>
              <a:t> Intent: HIGH </a:t>
            </a:r>
            <a:r>
              <a:rPr b="1" sz="1400">
                <a:solidFill>
                  <a:srgbClr val="D97706"/>
                </a:solidFill>
              </a:rPr>
              <a:t>   Friction: SIZE / FIT </a:t>
            </a:r>
            <a:r>
              <a:rPr b="1" sz="1400">
                <a:solidFill>
                  <a:srgbClr val="10B981"/>
                </a:solidFill>
              </a:rPr>
              <a:t>   Workaround: PAST ORDERS </a:t>
            </a:r>
            <a:r>
              <a:rPr b="1" sz="1400">
                <a:solidFill>
                  <a:srgbClr val="0F172A"/>
                </a:solidFill>
              </a:rPr>
              <a:t>   Source: REDDIT 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• Verbatim Post Snippet: "I love these Roadster slim jeans on Myntra, but size 30 is too tight around waist and 32 slips down. I've left them saved for 2 weeks while comparing waist measurements against 3 previous orders."</a:t>
            </a:r>
            <a:br/>
            <a:r>
              <a:t>• Model Inference: Intent Proximity = 0.94 (Near-term purchase); Friction Severity = High; Solvability = Non-Monetary Fit Anchor.</a:t>
            </a:r>
            <a:br/>
            <a:r>
              <a:t>• Value to PM: Enables systematic quantitative comparison across friction categories while maintaining strict provenance back to raw user feedback.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0" y="3474720"/>
            <a:ext cx="5303520" cy="4023360"/>
          </a:xfrm>
          <a:prstGeom prst="roundRect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3611880"/>
            <a:ext cx="49377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D97706"/>
                </a:solidFill>
              </a:defRPr>
            </a:pPr>
            <a:r>
              <a:t>QUALITY CONTROL &amp; MODEL AUDIT</a:t>
            </a:r>
          </a:p>
          <a:p>
            <a:pPr algn="ctr">
              <a:spcAft>
                <a:spcPts val="600"/>
              </a:spcAft>
              <a:defRPr sz="1800" b="1">
                <a:solidFill>
                  <a:srgbClr val="FFFFFF"/>
                </a:solidFill>
              </a:defRPr>
            </a:pPr>
            <a:r>
              <a:t>300 Records Manually Audited</a:t>
            </a:r>
          </a:p>
          <a:p>
            <a:pPr algn="ctr">
              <a:spcAft>
                <a:spcPts val="1200"/>
              </a:spcAft>
              <a:defRPr sz="1600" b="1">
                <a:solidFill>
                  <a:srgbClr val="F8FAFC"/>
                </a:solidFill>
              </a:defRPr>
            </a:pPr>
            <a:r>
              <a:t>270 / 300 Matched = 90% Agreement</a:t>
            </a:r>
          </a:p>
          <a:p>
            <a:pPr>
              <a:spcAft>
                <a:spcPts val="1600"/>
              </a:spcAft>
              <a:defRPr sz="1400">
                <a:solidFill>
                  <a:srgbClr val="CBD5E1"/>
                </a:solidFill>
              </a:defRPr>
            </a:pPr>
            <a:r>
              <a:t>• Measured: 270/300 records matched on primary Intent + Friction labels (90% AI–human label agreement).</a:t>
            </a:r>
            <a:br/>
            <a:r>
              <a:t>• Stack: Python + GPT-4o API + GitHub Pages Explorer</a:t>
            </a:r>
            <a:br/>
            <a:r>
              <a:t>• Provenance links maintained for full auditability.</a:t>
            </a:r>
          </a:p>
        </p:txBody>
      </p:sp>
      <p:sp>
        <p:nvSpPr>
          <p:cNvPr id="19" name="Rounded Rectangle 18">
            <a:hlinkClick r:id="rId2"/>
          </p:cNvPr>
          <p:cNvSpPr/>
          <p:nvPr/>
        </p:nvSpPr>
        <p:spPr>
          <a:xfrm>
            <a:off x="9784080" y="6126480"/>
            <a:ext cx="3291840" cy="59436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Test Discovery Engine Live 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7635240"/>
            <a:ext cx="1353312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768096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Myntra · Growth PM Case Study · Wishlist-to-Purchase Conversion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768096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475569"/>
                </a:solidFill>
                <a:latin typeface="Inter"/>
              </a:defRPr>
            </a:pPr>
            <a: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3533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  <a:latin typeface="Inter"/>
              </a:defRPr>
            </a:pPr>
            <a:r>
              <a:t>DISCOVERY ENGINE FINDINGS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Inter"/>
              </a:defRPr>
            </a:pPr>
            <a:r>
              <a:t>Size &amp; Fit Uncertainty Ranks #1 — High Purchase Proximity and Non-Monetary Addressability</a:t>
            </a:r>
          </a:p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Segmenting 1,500 conversations by Intent × Friction and scoring opportunity areas on a 25-point PM rubric.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INTENT × FRICTION SEGMENTATION (n = 1,500)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3017520" cy="164592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FFFFFF"/>
                </a:solidFill>
              </a:defRPr>
            </a:pPr>
            <a:r>
              <a:t>51.3%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HIGH INTENT / HIGH FRICTION</a:t>
            </a:r>
            <a:br/>
            <a:r>
              <a:t>51.3% (n=770) fall into High Intent / High Friction — the primary segment for conversion intervention.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39" y="2011680"/>
            <a:ext cx="3017520" cy="16459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86200" y="214884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D97706"/>
                </a:solidFill>
              </a:defRPr>
            </a:pPr>
            <a:r>
              <a:t>22.0%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LOW INTENT / HIGH FRICTION</a:t>
            </a:r>
            <a:br/>
            <a:r>
              <a:t>Passive Browsing (n=330): Casual window shopping &amp; price watching.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840480"/>
            <a:ext cx="3017520" cy="16459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97764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10B981"/>
                </a:solidFill>
              </a:defRPr>
            </a:pPr>
            <a:r>
              <a:t>16.7%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HIGH INTENT / LOW FRICTION</a:t>
            </a:r>
            <a:br/>
            <a:r>
              <a:t>Waiting to Execute (n=250): High desire, awaiting payday/event date.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3840480"/>
            <a:ext cx="301752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397764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0F172A"/>
                </a:solidFill>
              </a:defRPr>
            </a:pPr>
            <a:r>
              <a:t>10.0%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LOW INTENT / LOW FRICTION</a:t>
            </a:r>
            <a:br/>
            <a:r>
              <a:t>Mood-Board Archive (n=150): Long-term outfit bookmarking.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645920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OPPORTUNITY PRIORITIZATION (P·I·S·A·C /25 RUBRIC)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132320" y="2011680"/>
          <a:ext cx="69494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609600">
                <a:tc>
                  <a:txBody>
                    <a:bodyPr lIns="109728" rIns="109728" tIns="36576" bIns="36576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Opportunity Area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Breakdown (P·I·S·A·C)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Score &amp; Status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</a:tr>
              <a:tr h="609600">
                <a:tc>
                  <a:txBody>
                    <a:bodyPr lIns="109728" rIns="109728" tIns="36576" bIns="36576"/>
                    <a:lstStyle/>
                    <a:p>
                      <a:pPr>
                        <a:defRPr b="1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1. Size &amp; Fit Uncertainty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P:4  I:5  S:5  A:5  C:4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1" sz="1400">
                          <a:solidFill>
                            <a:srgbClr val="E11D48"/>
                          </a:solidFill>
                          <a:latin typeface="Inter"/>
                        </a:defRPr>
                      </a:pPr>
                      <a:r>
                        <a:t>23 / 25 — #1 (PRIMARY WEDGE)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09600"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2. Comparison Paralysis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P:5  I:5  S:4  A:5  C:3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22 / 25 — #2 (Backlog)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3. Product Quality / Real Photo Void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P:5  I:4  S:3  A:4  C:3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19 / 25 — #3 (Backlog)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09600"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4. Price Volatility &amp; 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P:4  I:4  S:4  A:2  C:3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17 / 25 — #4 (Monetary Boundary)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5. Styling &amp; Wardrobe Match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P:3  I:4  S:3  A:3  C:3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16 / 25 — #5 (Low Priority)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548640" y="5852160"/>
            <a:ext cx="13533120" cy="137160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5852160"/>
            <a:ext cx="73152" cy="13716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989320"/>
            <a:ext cx="1316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KEY TAKEAWAY: FREQUENCY ≠ PRIORITY FOR GROWTH INTERVENTION</a:t>
            </a:r>
            <a:br/>
            <a:r>
              <a:t>Comparison friction appears slightly more often across browsing, but Size &amp; Fit Uncertainty ranks #1 overall because affected users are closest to purchase, their friction is severe, and the problem is addressable without monetary discounts. (P=Prevalence, I=Intent, S=Severity, A=Addressability, C=Confidence)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7635240"/>
            <a:ext cx="1353312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768096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Myntra · Growth PM Case Study · Wishlist-to-Purchase Conversion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768096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475569"/>
                </a:solidFill>
                <a:latin typeface="Inter"/>
              </a:defRPr>
            </a:pPr>
            <a: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3533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  <a:latin typeface="Inter"/>
              </a:defRPr>
            </a:pPr>
            <a:r>
              <a:t>PRIMARY RESEARCH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Inter"/>
              </a:defRPr>
            </a:pPr>
            <a:r>
              <a:t>6 Wishlist Walkthroughs Reveal Users Leave Myntra to Resolve Fit Uncertainty</a:t>
            </a:r>
          </a:p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Reconstructing user decision paths from 'Saved' to 'Researched' to 'Stalled / Purchased' for near-term purchase intent.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4297680" cy="1188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73152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4023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5 / 6 (83%)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surfaced size/drape uncertainty in decision journey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66360" y="1645920"/>
            <a:ext cx="4297680" cy="118872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66360" y="1645920"/>
            <a:ext cx="73152" cy="118872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0" y="1691640"/>
            <a:ext cx="4023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11D48"/>
                </a:solidFill>
              </a:defRPr>
            </a:pPr>
            <a:r>
              <a:t>3 / 6 (50%)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cited cross-brand fit as their primary blocker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84080" y="1645920"/>
            <a:ext cx="4297680" cy="1188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784080" y="1645920"/>
            <a:ext cx="73152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21240" y="1691640"/>
            <a:ext cx="4023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6 / 6 (100%)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used outside-app workarounds to resolve uncertainty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926080"/>
            <a:ext cx="1353312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953512"/>
            <a:ext cx="1316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11D48"/>
                </a:solidFill>
              </a:defRPr>
            </a:pPr>
            <a:r>
              <a:t>USER DECISION JOURNEY: Wishlist Add → 'Will this fit me?' → External Research → Still Uncertain → Delayed Purchase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8640" y="3429000"/>
          <a:ext cx="804672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005840"/>
                <a:gridCol w="1463040"/>
                <a:gridCol w="1645920"/>
                <a:gridCol w="1645920"/>
                <a:gridCol w="1828800"/>
              </a:tblGrid>
              <a:tr h="535577">
                <a:tc>
                  <a:txBody>
                    <a:bodyPr lIns="109728" rIns="109728" tIns="36576" bIns="36576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P#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Profile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Saved SKU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Stated Blocker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Outside Workaround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Required Purchase Trigger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</a:tr>
              <a:tr h="535577"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Male (24)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Roadster Jeans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1" sz="1400">
                          <a:solidFill>
                            <a:srgbClr val="E11D48"/>
                          </a:solidFill>
                          <a:latin typeface="Inter"/>
                        </a:defRPr>
                      </a:pPr>
                      <a:r>
                        <a:t>Fit / size (30 vs 32)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Compared 3 past orders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Reliable fit comparison tool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5577"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Female (26)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Anouk Kurta 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1" sz="1400">
                          <a:solidFill>
                            <a:srgbClr val="E11D48"/>
                          </a:solidFill>
                          <a:latin typeface="Inter"/>
                        </a:defRPr>
                      </a:pPr>
                      <a:r>
                        <a:t>Bust/shoulder drape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YouTube try-on hauls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Real model height/body photos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Male (22)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HRX Shoes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Foot width / sizing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Reddit sizing threads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Side-by-side spec comparison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5577"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Female (29)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Libas Kurti 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1" sz="1400">
                          <a:solidFill>
                            <a:srgbClr val="E11D48"/>
                          </a:solidFill>
                          <a:latin typeface="Inter"/>
                        </a:defRPr>
                      </a:pPr>
                      <a:r>
                        <a:t>Post-wash shrinkage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Read negative reviews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Shrinkage rating guarantee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Male (27)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Allen Solly Blazer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Arm length / shoulder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Ordered 2 sizes to return 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Precise shoulder anchor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5577"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Male (23)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Highlander Cargos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Waist fit / length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Asked friends on WhatsApp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Virtual outfit drape preview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8778240" y="3429000"/>
            <a:ext cx="5303520" cy="37490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78240" y="3429000"/>
            <a:ext cx="73152" cy="3749039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352044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USERS LEAVE MYNTRA TO RESOLVE FIT UNCERTAINTY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F172A"/>
                </a:solidFill>
              </a:rPr>
              <a:t>1. SAVE ITEM: </a:t>
            </a:r>
            <a:r>
              <a:rPr sz="1400">
                <a:solidFill>
                  <a:srgbClr val="334155"/>
                </a:solidFill>
              </a:rPr>
              <a:t>User saves specific SKU &amp; size in wishlist.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F172A"/>
                </a:solidFill>
              </a:rPr>
              <a:t>2. EXIT MYNTRA: </a:t>
            </a:r>
            <a:r>
              <a:rPr sz="1400">
                <a:solidFill>
                  <a:srgbClr val="334155"/>
                </a:solidFill>
              </a:rPr>
              <a:t>Leaves app to search Reddit, YouTube, Instagram.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F172A"/>
                </a:solidFill>
              </a:rPr>
              <a:t>3. TRIANGULATE: </a:t>
            </a:r>
            <a:r>
              <a:rPr sz="1400">
                <a:solidFill>
                  <a:srgbClr val="334155"/>
                </a:solidFill>
              </a:rPr>
              <a:t>Compares past kept orders &amp; customer reviews.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F172A"/>
                </a:solidFill>
              </a:rPr>
              <a:t>4. STALL CHECKOUT: </a:t>
            </a:r>
            <a:r>
              <a:rPr sz="1400">
                <a:solidFill>
                  <a:srgbClr val="334155"/>
                </a:solidFill>
              </a:rPr>
              <a:t>Remains uncertain, delays purchase, intent decays.</a:t>
            </a:r>
          </a:p>
          <a:p>
            <a:pPr>
              <a:spcBef>
                <a:spcPts val="400"/>
              </a:spcBef>
              <a:defRPr sz="1400" b="1" i="1">
                <a:solidFill>
                  <a:srgbClr val="E11D48"/>
                </a:solidFill>
              </a:defRPr>
            </a:pPr>
            <a:r>
              <a:t>“I love this pair of Roadster jeans, but my waist size is 31 — Roadster 30 is too tight and 32 slips off. I left it saved for 2 weeks while comparing waist measurements from 3 previous kept orders.” — P1 (Walkthrough Interview)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7635240"/>
            <a:ext cx="1353312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768096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Myntra · Growth PM Case Study · Wishlist-to-Purchase Conversion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768096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475569"/>
                </a:solidFill>
                <a:latin typeface="Inter"/>
              </a:defRPr>
            </a:pPr>
            <a: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3533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  <a:latin typeface="Inter"/>
              </a:defRPr>
            </a:pPr>
            <a:r>
              <a:t>PROBLEM DEFINITION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Inter"/>
              </a:defRPr>
            </a:pPr>
            <a:r>
              <a:t>High-Intent Shoppers Stall at Commitment Because Cross-Brand Size Labels Don't Translate into Personal Fit Confidence</a:t>
            </a:r>
          </a:p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Synthesizing findings across Business Metric → Product Outcome → AI Discovery → Primary Research → Problem Statement.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353312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316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11D48"/>
                </a:solidFill>
              </a:defRPr>
            </a:pPr>
            <a:r>
              <a:t>EVIDENCE CHAIN: 30D Buyer Conversion → Wishlist to Bag → AI Discovery (Fit #1 23/25) → Interviews (5/6 Surface Fit) → Root Cause (Cross-Brand Size Distrust)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13533120" cy="1188720"/>
          </a:xfrm>
          <a:prstGeom prst="roundRect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91440" cy="1188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316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D97706"/>
                </a:solidFill>
              </a:rPr>
              <a:t>CORE PROBLEM STATEMENT: </a:t>
            </a:r>
            <a:r>
              <a:rPr sz="1400">
                <a:solidFill>
                  <a:srgbClr val="FFFFFF"/>
                </a:solidFill>
              </a:rPr>
              <a:t>High-intent apparel shoppers with a near-term purchase goal delay moving wishlisted items to Bag because they cannot confidently predict how their selected size will fit across different brands — forcing them to leave Myntra to triangulate fit from external reviews, past purchases, and try-on content before committing.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383280"/>
            <a:ext cx="4352544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398678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11D48"/>
                </a:solidFill>
              </a:defRPr>
            </a:pPr>
            <a:r>
              <a:t>TARGET USER SEGMENT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High-intent Myntra apparel shoppers who have shortlisted specific SKUs with near-term purchase intent.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38927" y="3383280"/>
            <a:ext cx="4352544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21807" y="3566160"/>
            <a:ext cx="398678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11D48"/>
                </a:solidFill>
              </a:defRPr>
            </a:pPr>
            <a:r>
              <a:t>DECISION TRIGGER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Revisiting saved items to evaluate checkout readiness for an upcoming event, season change, or wardrobe update.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29215" y="3383280"/>
            <a:ext cx="4352544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12095" y="3566160"/>
            <a:ext cx="398678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11D48"/>
                </a:solidFill>
              </a:defRPr>
            </a:pPr>
            <a:r>
              <a:t>CORE ROOT OBSTACLE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Inability to translate standard size labels (S/M/L or 30/32) into personalized fit guidance.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394960"/>
            <a:ext cx="4352544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577840"/>
            <a:ext cx="398678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11D48"/>
                </a:solidFill>
              </a:defRPr>
            </a:pPr>
            <a:r>
              <a:t>EXISTING WORKAROUND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Leaving Myntra to browse Reddit sizing threads, Instagram try-ons, YouTube hauls, or measuring past orders.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8927" y="5394960"/>
            <a:ext cx="4352544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21807" y="5577840"/>
            <a:ext cx="398678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11D48"/>
                </a:solidFill>
              </a:defRPr>
            </a:pPr>
            <a:r>
              <a:t>EXPECTED USER VALUE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Confidently resolve fit &amp; size decisions quickly in one in-app flow without ordering multiple sizes to return.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29215" y="5394960"/>
            <a:ext cx="4352544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12095" y="5577840"/>
            <a:ext cx="398678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11D48"/>
                </a:solidFill>
              </a:defRPr>
            </a:pPr>
            <a:r>
              <a:t>EXPECTED BUSINESS VALUE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Increases Wishlist-to-Bag conversion rate, shortens decision latency, and reduces fit-related returns downstream.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7635240"/>
            <a:ext cx="1353312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768096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Myntra · Growth PM Case Study · Wishlist-to-Purchase Conversion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768096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475569"/>
                </a:solidFill>
                <a:latin typeface="Inter"/>
              </a:defRPr>
            </a:pPr>
            <a: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3533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  <a:latin typeface="Inter"/>
              </a:defRPr>
            </a:pPr>
            <a:r>
              <a:t>SOLUTION RATIONALE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Inter"/>
              </a:defRPr>
            </a:pPr>
            <a:r>
              <a:t>Smart Wishlist + FitCheck Resolves Declared Blocker Inside the Wishlist — No Discounts Required</a:t>
            </a:r>
          </a:p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Designing a native decision-confidence loop that empowers shoppers to declare obstacles and receive personalized fit recommendations.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25603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1. FIT ANCHOR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User confirms 1 kept item profile (e.g., Roadster M).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645920"/>
            <a:ext cx="25603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173736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2. DECLARE BLOCKER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User tags SKU: 'Waiting on Fit'.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645920"/>
            <a:ext cx="25603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73736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3. FITCHECK ENGINE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Uses a known-good fit anchor and available product information to build personal fit confidence.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1645920"/>
            <a:ext cx="2560320" cy="182880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15400" y="173736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11D48"/>
                </a:solidFill>
              </a:defRPr>
            </a:pPr>
            <a:r>
              <a:t>4. READY TO BUY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Wishlist state transitions upon confidence signal.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521440" y="1645920"/>
            <a:ext cx="25603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58600" y="173736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5. MOVE TO BAG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User moves item to Bag, signaling stronger purchase commitment.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57600"/>
            <a:ext cx="6675120" cy="29260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57600"/>
            <a:ext cx="73152" cy="2926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94760"/>
            <a:ext cx="63093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WHY THIS FITS THE NON-MONETARY STRATEGIC BRIEF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• Zero Subsidy &amp; Zero Margin Erosion: The solution does not rely on price slashes, coupons, or cashback nudges.</a:t>
            </a:r>
            <a:br/>
            <a:r>
              <a:t>• Pure Informational Value: Uses a known-good fit anchor and available product information to build personal fit confidence.</a:t>
            </a:r>
            <a:br/>
            <a:r>
              <a:t>• Handing Control to User: Users explicitly state what they are waiting for, transforming wishlist from passive storage into an active decision dashboard.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3657600"/>
            <a:ext cx="6675120" cy="292608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06640" y="3657600"/>
            <a:ext cx="73152" cy="29260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0" y="3794760"/>
            <a:ext cx="63093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D97706"/>
                </a:solidFill>
              </a:defRPr>
            </a:pPr>
            <a:r>
              <a:t>SCOPE DISCIPLINE &amp; EXPERIMENTAL CONTROL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• Isolated Causal Experiment: The FitCheck MVP isolates Fit-only to measure pure decision confidence uplift.</a:t>
            </a:r>
            <a:br/>
            <a:r>
              <a:t>• Architecture Extensibility: Architecture can later support other declared blockers such as organic price events; excluded from the Fit MVP experiment.</a:t>
            </a:r>
            <a:br/>
            <a:r>
              <a:t>• Testable Artefact: Prototype deployed and accessible live.</a:t>
            </a:r>
          </a:p>
        </p:txBody>
      </p:sp>
      <p:sp>
        <p:nvSpPr>
          <p:cNvPr id="20" name="Rounded Rectangle 19">
            <a:hlinkClick r:id="rId2"/>
          </p:cNvPr>
          <p:cNvSpPr/>
          <p:nvPr/>
        </p:nvSpPr>
        <p:spPr>
          <a:xfrm>
            <a:off x="10972800" y="6766560"/>
            <a:ext cx="3108960" cy="59436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Launch Live MVP Prototype 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7635240"/>
            <a:ext cx="1353312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768096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Myntra · Growth PM Case Study · Wishlist-to-Purchase Conversion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768096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475569"/>
                </a:solidFill>
                <a:latin typeface="Inter"/>
              </a:defRPr>
            </a:pPr>
            <a: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3533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  <a:latin typeface="Inter"/>
              </a:defRPr>
            </a:pPr>
            <a:r>
              <a:t>DEPLOYED MVP PROTOTYPE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Inter"/>
              </a:defRPr>
            </a:pPr>
            <a:r>
              <a:t>Demonstrating the Decision-Resolution &amp; State-Transition Mechanism</a:t>
            </a:r>
          </a:p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Testing the non-monetary decision-confidence loop before investing engineering in real-time fit ML models.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66751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73152" cy="475488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6309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PROTOTYPE UI FLOW (SAME-CATEGORY MATCHING)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E11D48"/>
                </a:solidFill>
              </a:rPr>
              <a:t>1. SET FIT ANCHOR: </a:t>
            </a:r>
            <a:r>
              <a:rPr sz="1400">
                <a:solidFill>
                  <a:srgbClr val="334155"/>
                </a:solidFill>
              </a:rPr>
              <a:t>User inputs known-good fit item: [Roadster Slim Fit Jeans - Size 30 M]. Saved as personal reference anchor.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D97706"/>
                </a:solidFill>
              </a:rPr>
              <a:t>2. FITCHECK SIGNAL: </a:t>
            </a:r>
            <a:r>
              <a:rPr sz="1400">
                <a:solidFill>
                  <a:srgbClr val="334155"/>
                </a:solidFill>
              </a:rPr>
              <a:t>User taps 'Run FitCheck' on saved wishlist item [Highlander Cargo Jeans - Size 30 M]. System returns a High-Confidence fit result based on prototype logic.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0B981"/>
                </a:solidFill>
              </a:rPr>
              <a:t>3. READY TO BUY STATE: </a:t>
            </a:r>
            <a:r>
              <a:rPr sz="1400">
                <a:solidFill>
                  <a:srgbClr val="334155"/>
                </a:solidFill>
              </a:rPr>
              <a:t>Item status flips from 'Waiting on Fit' to 'Ready to Buy'. One-tap 'Move to Bag' CTA unlocked without monetary discounts.</a:t>
            </a:r>
          </a:p>
        </p:txBody>
      </p:sp>
      <p:sp>
        <p:nvSpPr>
          <p:cNvPr id="7" name="Rounded Rectangle 6">
            <a:hlinkClick r:id="rId2"/>
          </p:cNvPr>
          <p:cNvSpPr/>
          <p:nvPr/>
        </p:nvSpPr>
        <p:spPr>
          <a:xfrm>
            <a:off x="731520" y="5669280"/>
            <a:ext cx="2926080" cy="59436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Test Live Deployed MVP 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645920"/>
            <a:ext cx="6675120" cy="4754880"/>
          </a:xfrm>
          <a:prstGeom prst="roundRect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783080"/>
            <a:ext cx="6309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D97706"/>
                </a:solidFill>
              </a:defRPr>
            </a:pPr>
            <a:r>
              <a:t>LIVE TODAY IN MVP vs SIMULATED FOR PRODUCTION</a:t>
            </a:r>
          </a:p>
          <a:p>
            <a:pPr>
              <a:spcAft>
                <a:spcPts val="400"/>
              </a:spcAft>
              <a:defRPr sz="1400" b="1">
                <a:solidFill>
                  <a:srgbClr val="D97706"/>
                </a:solidFill>
              </a:defRPr>
            </a:pPr>
            <a:r>
              <a:t>LIVE TODAY IN MVP: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</a:defRPr>
            </a:pPr>
            <a:r>
              <a:t>✓ Set &amp; Save Fit Anchor Profile (Brand, Size, Height, Body preference)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</a:defRPr>
            </a:pPr>
            <a:r>
              <a:t>✓ Declare Blocker Tag on Wishlist SKUs (Waiting on Fit / Price / Both)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</a:defRPr>
            </a:pPr>
            <a:r>
              <a:t>✓ Run FitCheck and generate a fit-confidence result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</a:defRPr>
            </a:pPr>
            <a:r>
              <a:t>✓ Transition Wishlist Item State from 'Waiting on Fit' to 'Ready to Buy'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</a:defRPr>
            </a:pPr>
            <a:r>
              <a:t>✓ Execute One-Tap 'Move to Bag' Action for Resolved Items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D97706"/>
                </a:solidFill>
              </a:defRPr>
            </a:pPr>
            <a:r>
              <a:t>SIMULATED / PRODUCTION BACKLOG: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</a:defRPr>
            </a:pPr>
            <a:r>
              <a:t>• Real-time kept order &amp; return history API ingestion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</a:defRPr>
            </a:pPr>
            <a:r>
              <a:t>• Multi-category production ML garment measurement calibration model</a:t>
            </a:r>
          </a:p>
          <a:p>
            <a:pPr>
              <a:spcBef>
                <a:spcPts val="600"/>
              </a:spcBef>
              <a:defRPr sz="1400" b="1">
                <a:solidFill>
                  <a:srgbClr val="D97706"/>
                </a:solidFill>
              </a:defRPr>
            </a:pPr>
            <a:r>
              <a:t>MVP validates the core decision loop and state transition; production ML accuracy remains an explicit validation step.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6492240"/>
            <a:ext cx="1353312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9400"/>
            <a:ext cx="1316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60-SECOND EVALUATOR TESTING PATH: [1] Set Fit Anchor → [2] Select Item &amp; Tag 'Waiting on Fit' → [3] Click FitCheck → [4] See 'Ready to Buy' State → [5] Move to Bag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7635240"/>
            <a:ext cx="1353312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768096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Myntra · Growth PM Case Study · Wishlist-to-Purchase Conversion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768096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475569"/>
                </a:solidFill>
                <a:latin typeface="Inter"/>
              </a:defRPr>
            </a:pPr>
            <a: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3533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  <a:latin typeface="Inter"/>
              </a:defRPr>
            </a:pPr>
            <a:r>
              <a:t>DEFINE SUCCESS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Inter"/>
              </a:defRPr>
            </a:pPr>
            <a:r>
              <a:t>We scale only if FitCheck lifts 30-day conversion without increasing fit-related returns.</a:t>
            </a:r>
          </a:p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Structuring metrics into business impact, mechanism validation, leading indicators, quality metrics, and guardrails.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4352544" cy="1280160"/>
          </a:xfrm>
          <a:prstGeom prst="roundRect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398678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FFFFF"/>
                </a:solidFill>
              </a:defRPr>
            </a:pPr>
            <a:r>
              <a:t>BUSINESS NORTH STAR METRIC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30-Day Wishlist Buyer Conversion Rate (% unique wishlist users purchasing ≥1 saved SKU)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38927" y="1645920"/>
            <a:ext cx="4352544" cy="128016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21807" y="1691640"/>
            <a:ext cx="398678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FFFFF"/>
                </a:solidFill>
              </a:defRPr>
            </a:pPr>
            <a:r>
              <a:t>PRIMARY MECHANISM METRIC</a:t>
            </a:r>
          </a:p>
          <a:p>
            <a:pPr>
              <a:defRPr sz="1400" b="1">
                <a:solidFill>
                  <a:srgbClr val="FFF1F2"/>
                </a:solidFill>
              </a:defRPr>
            </a:pPr>
            <a:r>
              <a:t>Condition-Resolved to Bag Rate (% of fit-tagged items moved to Bag within 72h)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29215" y="1645920"/>
            <a:ext cx="4352544" cy="12801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12095" y="1691640"/>
            <a:ext cx="398678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0B981"/>
                </a:solidFill>
              </a:defRPr>
            </a:pPr>
            <a:r>
              <a:t>KEY GUARDRAIL METRIC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Fit-Related Return Rate (Must remain flat or drop; ensures fit accuracy)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17520"/>
            <a:ext cx="135331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017520"/>
            <a:ext cx="73152" cy="10058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063240"/>
            <a:ext cx="1316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</a:defRPr>
            </a:pPr>
            <a:r>
              <a:t>CAUSAL A/B TEST EXPERIMENT DESIGN &amp; SAMPLE RIGOR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• Population: High-intent apparel wishlisters with ≥1 eligible fit-sensitive SKU   • Control: Existing Wishlist   • Treatment: Wishlist + FitCheck</a:t>
            </a:r>
            <a:br/>
            <a:r>
              <a:t>• Randomization: User-level A/B split   • Evaluation Window: 30 days   • Sample Size: Determined using power analysis from Myntra's baseline conversion and predefined minimum detectable effect (MDE).</a:t>
            </a:r>
            <a:br/>
            <a:r>
              <a:t>• Decision Rule: Launch only if 30-Day Conversion rises without inflating fit returns.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4114800"/>
          <a:ext cx="13533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926080"/>
                <a:gridCol w="4937760"/>
                <a:gridCol w="4023360"/>
              </a:tblGrid>
              <a:tr h="470262">
                <a:tc>
                  <a:txBody>
                    <a:bodyPr lIns="109728" rIns="109728" tIns="36576" bIns="36576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Metric Name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Exact Definition / Formula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Target / PM Rationale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</a:tr>
              <a:tr h="470262"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Leading Indicator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1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Fit Anchor Adoption Rate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% fit-tagged users with a saved anchor profile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Pilot hypothesis — to be calibrated post-baseline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70262"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Leading Indicator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1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Blocker Declaration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% saved items tagged with specific blocker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Pilot hypothesis — to be calibrated post-baseline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Leading Indicator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1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Fit Resolution Coverage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% eligible FitChecks receiving recommendations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Measures system ability to return confident calls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70262"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Quality /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1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Post-Purchase Fit Agreement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% purchases where users report fit was accurate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Direct measure of fit recommendation precision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Guardrail Metric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1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Fit-Related Return Rate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Returns per 100 purchases due to sizing/fit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Must remain flat or drop vs control cohort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70268"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Guardrail Metric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1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Notification Opt-Out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% users disabling FitCheck reminders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Prevents notification fatigue and trust erosion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548640" y="7635240"/>
            <a:ext cx="1353312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768096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Myntra · Growth PM Case Study · Wishlist-to-Purchase Conversion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768096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475569"/>
                </a:solidFill>
                <a:latin typeface="Inter"/>
              </a:defRPr>
            </a:pPr>
            <a:r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3533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  <a:latin typeface="Inter"/>
              </a:defRPr>
            </a:pPr>
            <a:r>
              <a:t>RISKS &amp; MITIGATION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Inter"/>
              </a:defRPr>
            </a:pPr>
            <a:r>
              <a:t>Mitigating False Fit Confidence, Setup Friction, and Cold Start Through Phased Rollout</a:t>
            </a:r>
          </a:p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Evaluating potential failure modes, business risks, and defining strict rollout gating principles.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3533120" cy="54864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73152" cy="5486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316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CRITICAL RISK: False fit confidence can turn a stalled wishlist into a costly return — worse than doing nothing.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194560"/>
          <a:ext cx="13533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914400"/>
                <a:gridCol w="1005840"/>
                <a:gridCol w="3657600"/>
                <a:gridCol w="5029200"/>
              </a:tblGrid>
              <a:tr h="640080">
                <a:tc>
                  <a:txBody>
                    <a:bodyPr lIns="109728" rIns="109728" tIns="36576" bIns="36576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Risk Area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Likelihood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Root Cause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Mitigation Strategy &amp; Rollout Gate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</a:tr>
              <a:tr h="640080">
                <a:tc>
                  <a:txBody>
                    <a:bodyPr lIns="109728" rIns="109728" tIns="36576" bIns="36576"/>
                    <a:lstStyle/>
                    <a:p>
                      <a:pPr>
                        <a:defRPr b="1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False Fit Confidence → High Returns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1" sz="1400">
                          <a:solidFill>
                            <a:srgbClr val="E11D48"/>
                          </a:solidFill>
                          <a:latin typeface="Inter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AI overconfident without garment specs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Abstain below a calibrated confidence threshold; show confidence bands; gate rollout on return rate.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40080">
                <a:tc>
                  <a:txBody>
                    <a:bodyPr lIns="109728" rIns="109728" tIns="36576" bIns="36576"/>
                    <a:lstStyle/>
                    <a:p>
                      <a:pPr>
                        <a:defRPr b="1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Fit Anchor Setup Friction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1" sz="1400">
                          <a:solidFill>
                            <a:srgbClr val="D97706"/>
                          </a:solidFill>
                          <a:latin typeface="Inter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Manual multi-field input deters users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Auto-infer anchor from kept orders; ask contextually when user adds item to wishlist.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lIns="109728" rIns="109728" tIns="36576" bIns="36576"/>
                    <a:lstStyle/>
                    <a:p>
                      <a:pPr>
                        <a:defRPr b="1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Cold Start / Sparse Brand Data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1" sz="1400">
                          <a:solidFill>
                            <a:srgbClr val="E11D48"/>
                          </a:solidFill>
                          <a:latin typeface="Inter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New brands or niche categories lack fit evidence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Blend size charts + material elasticity; output 'Not Enough Evidence' state instead of guessing.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40080">
                <a:tc>
                  <a:txBody>
                    <a:bodyPr lIns="109728" rIns="109728" tIns="36576" bIns="36576"/>
                    <a:lstStyle/>
                    <a:p>
                      <a:pPr>
                        <a:defRPr b="1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Research Sample Generalization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6 qualitative interviews are directional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Determine sample size through power analysis using baseline conversion and predefined MDE; segment by category.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lIns="109728" rIns="109728" tIns="36576" bIns="36576"/>
                    <a:lstStyle/>
                    <a:p>
                      <a:pPr>
                        <a:defRPr b="1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Notification Fatigue / Nudge Erosion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Repeated 'Ready to Buy' alerts feel spammy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36576" bIns="36576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Cap reminders to 1 per week per user; digest updates into weekly wishlist recap; 1-tap opt-out.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6126480"/>
            <a:ext cx="13533120" cy="1280160"/>
          </a:xfrm>
          <a:prstGeom prst="roundRect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6126480"/>
            <a:ext cx="73152" cy="1280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1316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ROLLOUT PRINCIPLE: EARN TRUST BEFORE REACH</a:t>
            </a:r>
            <a:br/>
            <a:r>
              <a:t>Offline data calibration → Pilot in high-volume categories with sufficient fit evidence → Validate conversion + return guardrails → Expand category coverage. 'A wishlist should actively resolve decisions, not just store products.'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7635240"/>
            <a:ext cx="1353312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768096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Myntra · Growth PM Case Study · Wishlist-to-Purchase Conversion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768096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475569"/>
                </a:solidFill>
                <a:latin typeface="Inter"/>
              </a:defRPr>
            </a:pPr>
            <a:r>
              <a:t>Slide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
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ashritamalviya1999.github.io/Discovery-engine-Myntra/?v=10" TargetMode="External"/><Relationship Id="rId3" Type="http://schemas.openxmlformats.org/officeDocument/2006/relationships/hyperlink" Target="https://aashritamalviya1999.github.io/Discovery-engine-Myntra/fitcheck.html?v=10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ashritamalviya1999.github.io/Discovery-engine-Myntra/?v=10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ashritamalviya1999.github.io/Discovery-engine-Myntra/fitcheck.html?v=10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ashritamalviya1999.github.io/Discovery-engine-Myntra/fitcheck.html?v=10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772400" cy="685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E11D48"/>
                </a:solidFill>
                <a:latin typeface="Inter"/>
              </a:defRPr>
            </a:pPr>
            <a:r>
              <a:t>GROWTH PM CASE STUDY · MYNTRA</a:t>
            </a:r>
          </a:p>
          <a:p>
            <a:pPr>
              <a:spcAft>
                <a:spcPts val="1400"/>
              </a:spcAft>
              <a:defRPr sz="2800" b="1">
                <a:solidFill>
                  <a:srgbClr val="0F172A"/>
                </a:solidFill>
                <a:latin typeface="Inter"/>
              </a:defRPr>
            </a:pPr>
            <a:r>
              <a:t>Convert more wishlisters by resolving the last uncertainty — not by discounting.</a:t>
            </a:r>
          </a:p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Smart Wishlist + FitCheck turns a passive save into a decision-ready state for high-intent apparel shoppers — and measures whether that confidence actually moves them to Bag and purchase within 30 days.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931920"/>
            <a:ext cx="2468880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3931920"/>
            <a:ext cx="73152" cy="1280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11D48"/>
                </a:solidFill>
              </a:defRPr>
            </a:pPr>
            <a:r>
              <a:t>51.3%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of analyzed conversations fell in high-intent / high-friction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3931920"/>
            <a:ext cx="2468880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91840" y="3931920"/>
            <a:ext cx="73152" cy="1280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40233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D97706"/>
                </a:solidFill>
              </a:defRPr>
            </a:pPr>
            <a:r>
              <a:t>23/25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Fit uncertainty ranked #1 on opportunity rubric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3931920"/>
            <a:ext cx="2468880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3931920"/>
            <a:ext cx="73152" cy="1280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40233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0B981"/>
                </a:solidFill>
              </a:defRPr>
            </a:pPr>
            <a:r>
              <a:t>5 / 6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interviews surfaced fit / drape uncertainty</a:t>
            </a:r>
          </a:p>
        </p:txBody>
      </p:sp>
      <p:sp>
        <p:nvSpPr>
          <p:cNvPr id="13" name="Rounded Rectangle 12">
            <a:hlinkClick r:id="rId2"/>
          </p:cNvPr>
          <p:cNvSpPr/>
          <p:nvPr/>
        </p:nvSpPr>
        <p:spPr>
          <a:xfrm>
            <a:off x="640080" y="5577840"/>
            <a:ext cx="2926080" cy="5486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Inter"/>
              </a:defRPr>
            </a:pPr>
            <a:r>
              <a:t>Open AI Discovery Engine 🔗</a:t>
            </a:r>
          </a:p>
        </p:txBody>
      </p:sp>
      <p:sp>
        <p:nvSpPr>
          <p:cNvPr id="14" name="Rounded Rectangle 13">
            <a:hlinkClick r:id="rId3"/>
          </p:cNvPr>
          <p:cNvSpPr/>
          <p:nvPr/>
        </p:nvSpPr>
        <p:spPr>
          <a:xfrm>
            <a:off x="3749039" y="5577840"/>
            <a:ext cx="2286000" cy="54864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Inter"/>
              </a:defRPr>
            </a:pPr>
            <a:r>
              <a:t>Open Live MVP 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008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No monetary incentives · 10-slide submission · live artefacts linked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548640"/>
            <a:ext cx="5120640" cy="6675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69680" y="548640"/>
            <a:ext cx="91440" cy="667512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822960"/>
            <a:ext cx="457200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E11D48"/>
                </a:solidFill>
              </a:defRPr>
            </a:pPr>
            <a:r>
              <a:t>THE MECHANISM</a:t>
            </a:r>
          </a:p>
          <a:p>
            <a:pPr>
              <a:spcAft>
                <a:spcPts val="1600"/>
              </a:spcAft>
              <a:defRPr sz="2000" b="1">
                <a:solidFill>
                  <a:srgbClr val="0F172A"/>
                </a:solidFill>
              </a:defRPr>
            </a:pPr>
            <a:r>
              <a:t>From “Saved” to “Ready to Buy”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E11D48"/>
                </a:solidFill>
              </a:rPr>
              <a:t>1. SAVED: </a:t>
            </a:r>
            <a:r>
              <a:rPr sz="1300">
                <a:solidFill>
                  <a:srgbClr val="334155"/>
                </a:solidFill>
              </a:rPr>
              <a:t>User has explicit interest, not commitment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E11D48"/>
                </a:solidFill>
              </a:rPr>
              <a:t>2. FIT UNCERTAIN: </a:t>
            </a:r>
            <a:r>
              <a:rPr sz="1300">
                <a:solidFill>
                  <a:srgbClr val="334155"/>
                </a:solidFill>
              </a:rPr>
              <a:t>Cross-brand size / drape is unresolved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E11D48"/>
                </a:solidFill>
              </a:rPr>
              <a:t>3. FIT RESOLVED: </a:t>
            </a:r>
            <a:r>
              <a:rPr sz="1300">
                <a:solidFill>
                  <a:srgbClr val="334155"/>
                </a:solidFill>
              </a:rPr>
              <a:t>FitCheck returns transparent confidence signal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E11D48"/>
                </a:solidFill>
              </a:rPr>
              <a:t>4. READY TO BUY: </a:t>
            </a:r>
            <a:r>
              <a:rPr sz="1300">
                <a:solidFill>
                  <a:srgbClr val="334155"/>
                </a:solidFill>
              </a:rPr>
              <a:t>User decides; item becomes action-ready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E11D48"/>
                </a:solidFill>
              </a:rPr>
              <a:t>5. BAG → PURCHASE: </a:t>
            </a:r>
            <a:r>
              <a:rPr sz="1300">
                <a:solidFill>
                  <a:srgbClr val="334155"/>
                </a:solidFill>
              </a:rPr>
              <a:t>Commitment advances toward 30-day goal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5669280"/>
            <a:ext cx="4572000" cy="109728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576072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11D48"/>
                </a:solidFill>
              </a:defRPr>
            </a:pPr>
            <a:r>
              <a:t>Thesis: decision confidence is the addressable growth lever.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7589520"/>
            <a:ext cx="1335024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763524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Inter"/>
              </a:defRPr>
            </a:pPr>
            <a:r>
              <a:t>Myntra · Wishlist-to-Purchase Growth Case Study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7635240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475569"/>
                </a:solidFill>
                <a:latin typeface="Inter"/>
              </a:defRPr>
            </a:pPr>
            <a:r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335024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E11D48"/>
                </a:solidFill>
                <a:latin typeface="Inter"/>
              </a:defRPr>
            </a:pPr>
            <a:r>
              <a:t>BUSINESS METRIC DECOMPOSITION</a:t>
            </a:r>
          </a:p>
          <a:p>
            <a:pPr>
              <a:spcAft>
                <a:spcPts val="400"/>
              </a:spcAft>
              <a:defRPr sz="2200" b="1">
                <a:solidFill>
                  <a:srgbClr val="0F172A"/>
                </a:solidFill>
                <a:latin typeface="Inter"/>
              </a:defRPr>
            </a:pPr>
            <a:r>
              <a:t>The business metric moves only when wishlisted users progress from intent to commitment.</a:t>
            </a:r>
          </a:p>
          <a:p>
            <a:pPr>
              <a:defRPr sz="1300">
                <a:solidFill>
                  <a:srgbClr val="475569"/>
                </a:solidFill>
                <a:latin typeface="Inter"/>
              </a:defRPr>
            </a:pPr>
            <a:r>
              <a:t>The brief is user-level, so the North Star must also be user-level — not an SKU conversion proxy.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3350240" cy="822960"/>
          </a:xfrm>
          <a:prstGeom prst="roundRect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73152" cy="822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298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30-Day Wishlist Buyer Conversion = (Unique users who purchase ≥1 item they wishlisted within 30 days of that add) ÷ (Unique users with ≥1 eligible wishlist add in cohort window)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926080"/>
            <a:ext cx="2523744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224942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1. Wishlist Revisit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Return to saved item in ≤7d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46704" y="2926080"/>
            <a:ext cx="2523744" cy="164592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83864" y="3063240"/>
            <a:ext cx="224942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E11D48"/>
                </a:solidFill>
              </a:defRPr>
            </a:pPr>
            <a:r>
              <a:t>2. Decision Resolution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Fit / comparison doubt is resolved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53328" y="2926080"/>
            <a:ext cx="2523744" cy="164592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0488" y="3063240"/>
            <a:ext cx="224942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E11D48"/>
                </a:solidFill>
              </a:defRPr>
            </a:pPr>
            <a:r>
              <a:t>3. Wishlist → Bag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Commit the shortlisted item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59951" y="2926080"/>
            <a:ext cx="2523744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97111" y="3063240"/>
            <a:ext cx="224942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4. Bag → Purchase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Complete the transaction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66576" y="2926080"/>
            <a:ext cx="2523744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603736" y="3063240"/>
            <a:ext cx="224942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5. 30-Day Window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Do it before intent decays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846320"/>
            <a:ext cx="64922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029200"/>
            <a:ext cx="6126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E11D48"/>
                </a:solidFill>
              </a:defRPr>
            </a:pPr>
            <a:r>
              <a:t>Where this project intervenes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High-intent users already like the item. FitCheck targets the two adjacent, controllable steps: resolve the decision blocker → increase Wishlist-to-Bag progression.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846320"/>
            <a:ext cx="6492240" cy="237744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0" y="5029200"/>
            <a:ext cx="6126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D97706"/>
                </a:solidFill>
              </a:defRPr>
            </a:pPr>
            <a:r>
              <a:t>What we do NOT optimize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Generic wishlist adds or time-in-app. More saving is not success unless saved intent converts within 30 days.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7589520"/>
            <a:ext cx="1335024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763524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Inter"/>
              </a:defRPr>
            </a:pPr>
            <a:r>
              <a:t>Myntra · Wishlist-to-Purchase Growth Case Study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7635240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475569"/>
                </a:solidFill>
                <a:latin typeface="Inter"/>
              </a:defRPr>
            </a:pPr>
            <a: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335024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E11D48"/>
                </a:solidFill>
                <a:latin typeface="Inter"/>
              </a:defRPr>
            </a:pPr>
            <a:r>
              <a:t>AI-POWERED DISCOVERY ENGINE</a:t>
            </a:r>
          </a:p>
          <a:p>
            <a:pPr>
              <a:spcAft>
                <a:spcPts val="400"/>
              </a:spcAft>
              <a:defRPr sz="2200" b="1">
                <a:solidFill>
                  <a:srgbClr val="0F172A"/>
                </a:solidFill>
                <a:latin typeface="Inter"/>
              </a:defRPr>
            </a:pPr>
            <a:r>
              <a:t>The discovery engine turns 1,500 messy conversations into ranked, traceable opportunities.</a:t>
            </a:r>
          </a:p>
          <a:p>
            <a:pPr>
              <a:defRPr sz="1300">
                <a:solidFill>
                  <a:srgbClr val="475569"/>
                </a:solidFill>
                <a:latin typeface="Inter"/>
              </a:defRPr>
            </a:pPr>
            <a:r>
              <a:t>It classifies intent and friction separately, preserves provenance, and exposes the evidence behind every opportunity.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2523744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224942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1. INGEST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1,500 public conversations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46704" y="1828800"/>
            <a:ext cx="2523744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83864" y="1965960"/>
            <a:ext cx="224942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2. STRUCTURE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14-field multi-label schema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53328" y="1828800"/>
            <a:ext cx="2523744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90488" y="1965960"/>
            <a:ext cx="224942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3. SEGMENT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Intent × friction states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59951" y="1828800"/>
            <a:ext cx="2523744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97111" y="1965960"/>
            <a:ext cx="224942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4. PRIORITIZE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Opportunity score /25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66576" y="1828800"/>
            <a:ext cx="2523744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03736" y="1965960"/>
            <a:ext cx="224942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5. AUDIT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Human review + explorer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474720"/>
            <a:ext cx="8046720" cy="37490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57600"/>
            <a:ext cx="7498079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F172A"/>
                </a:solidFill>
              </a:defRPr>
            </a:pPr>
            <a:r>
              <a:t>A record becomes a decision-ready evidence object — not just a sentiment label.</a:t>
            </a:r>
          </a:p>
          <a:p>
            <a:pPr>
              <a:spcAft>
                <a:spcPts val="1400"/>
              </a:spcAft>
            </a:pPr>
            <a:r>
              <a:rPr b="1" sz="1200">
                <a:solidFill>
                  <a:srgbClr val="E11D48"/>
                </a:solidFill>
              </a:rPr>
              <a:t> Intent: HIGH </a:t>
            </a:r>
            <a:r>
              <a:rPr b="1" sz="1200">
                <a:solidFill>
                  <a:srgbClr val="D97706"/>
                </a:solidFill>
              </a:rPr>
              <a:t>   Friction: FIT </a:t>
            </a:r>
            <a:r>
              <a:rPr b="1" sz="1200">
                <a:solidFill>
                  <a:srgbClr val="10B981"/>
                </a:solidFill>
              </a:rPr>
              <a:t>   Workaround: PAST ORDERS 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Why it matters: this lets the PM compare opportunity areas by purchase proximity, severity and addressability — while still drilling back to source evidence.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3474720"/>
            <a:ext cx="5029200" cy="3749039"/>
          </a:xfrm>
          <a:prstGeom prst="roundRect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3749039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D97706"/>
                </a:solidFill>
              </a:defRPr>
            </a:pPr>
            <a:r>
              <a:t>QUALITY CONTROL</a:t>
            </a:r>
          </a:p>
          <a:p>
            <a:pPr algn="ctr"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300 records manually reviewed</a:t>
            </a:r>
          </a:p>
          <a:p>
            <a:pPr algn="ctr">
              <a:spcAft>
                <a:spcPts val="1800"/>
              </a:spcAft>
              <a:defRPr sz="1600" b="1">
                <a:solidFill>
                  <a:srgbClr val="F8FAFC"/>
                </a:solidFill>
              </a:defRPr>
            </a:pPr>
            <a:r>
              <a:t>270 / 300 label agreement = 90%</a:t>
            </a:r>
          </a:p>
        </p:txBody>
      </p:sp>
      <p:sp>
        <p:nvSpPr>
          <p:cNvPr id="18" name="Rounded Rectangle 17">
            <a:hlinkClick r:id="rId2"/>
          </p:cNvPr>
          <p:cNvSpPr/>
          <p:nvPr/>
        </p:nvSpPr>
        <p:spPr>
          <a:xfrm>
            <a:off x="9875520" y="6035040"/>
            <a:ext cx="3200400" cy="54864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Inter"/>
              </a:defRPr>
            </a:pPr>
            <a:r>
              <a:t>Test the engine live 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7589520"/>
            <a:ext cx="1335024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763524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Inter"/>
              </a:defRPr>
            </a:pPr>
            <a:r>
              <a:t>Myntra · Wishlist-to-Purchase Growth Case Study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7635240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475569"/>
                </a:solidFill>
                <a:latin typeface="Inter"/>
              </a:defRPr>
            </a:pPr>
            <a: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335024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E11D48"/>
                </a:solidFill>
                <a:latin typeface="Inter"/>
              </a:defRPr>
            </a:pPr>
            <a:r>
              <a:t>DISCOVERY FINDINGS</a:t>
            </a:r>
          </a:p>
          <a:p>
            <a:pPr>
              <a:spcAft>
                <a:spcPts val="400"/>
              </a:spcAft>
              <a:defRPr sz="2200" b="1">
                <a:solidFill>
                  <a:srgbClr val="0F172A"/>
                </a:solidFill>
                <a:latin typeface="Inter"/>
              </a:defRPr>
            </a:pPr>
            <a:r>
              <a:t>Fit uncertainty is the highest-value non-monetary wedge — not simply the most frequent complaint.</a:t>
            </a:r>
          </a:p>
          <a:p>
            <a:pPr>
              <a:defRPr sz="1300">
                <a:solidFill>
                  <a:srgbClr val="475569"/>
                </a:solidFill>
                <a:latin typeface="Inter"/>
              </a:defRPr>
            </a:pPr>
            <a:r>
              <a:t>The engine separates purchase intent from friction, then scores opportunities on prevalence, intent proximity, severity, addressability and confidence.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Intent × friction distribution (n = 1,500)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3017520" cy="146304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2316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</a:defRPr>
            </a:pPr>
            <a:r>
              <a:t>51.3%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HIGH INTENT / HIGH FRICTION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2286000"/>
            <a:ext cx="3017520" cy="1463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77640" y="242316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D97706"/>
                </a:solidFill>
              </a:defRPr>
            </a:pPr>
            <a:r>
              <a:t>22.0%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LOW INTENT / HIGH FRICTION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3017520" cy="14630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06908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10B981"/>
                </a:solidFill>
              </a:defRPr>
            </a:pPr>
            <a:r>
              <a:t>16.7%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HIGH INTENT / LOW FRICTION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0" y="3931920"/>
            <a:ext cx="3017520" cy="1463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77640" y="406908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0F172A"/>
                </a:solidFill>
              </a:defRPr>
            </a:pPr>
            <a:r>
              <a:t>10.0%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LOW INTENT / LOW FRICTION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828800"/>
            <a:ext cx="6675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Opportunity ranking (/25)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315200" y="2286000"/>
          <a:ext cx="66751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0"/>
                <a:gridCol w="2286000"/>
              </a:tblGrid>
              <a:tr h="518160">
                <a:tc>
                  <a:txBody>
                    <a:bodyPr lIns="109728" rIns="109728" tIns="73152" bIns="73152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Opportunity Area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Score &amp; Rank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</a:tr>
              <a:tr h="518160">
                <a:tc>
                  <a:txBody>
                    <a:bodyPr lIns="109728" rIns="109728" tIns="73152" bIns="73152"/>
                    <a:lstStyle/>
                    <a:p>
                      <a:pPr>
                        <a:defRPr b="1" sz="12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1. Size &amp; Fit Uncertainty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1" sz="1200">
                          <a:solidFill>
                            <a:srgbClr val="E11D48"/>
                          </a:solidFill>
                          <a:latin typeface="Inter"/>
                        </a:defRPr>
                      </a:pPr>
                      <a:r>
                        <a:t>23 / 25 — #1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18160">
                <a:tc>
                  <a:txBody>
                    <a:bodyPr lIns="109728" rIns="109728" tIns="73152" bIns="73152"/>
                    <a:lstStyle/>
                    <a:p>
                      <a:pPr>
                        <a:defRPr b="0" sz="12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2. Comparison Paralysis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2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22 / 25 — #2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lIns="109728" rIns="109728" tIns="73152" bIns="73152"/>
                    <a:lstStyle/>
                    <a:p>
                      <a:pPr>
                        <a:defRPr b="0" sz="12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3. Product Reality / Quality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2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19 / 25 — #3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18160">
                <a:tc>
                  <a:txBody>
                    <a:bodyPr lIns="109728" rIns="109728" tIns="73152" bIns="73152"/>
                    <a:lstStyle/>
                    <a:p>
                      <a:pPr>
                        <a:defRPr b="0" sz="12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4. Price Volatility &amp; 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2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17 / 25 — #4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lIns="109728" rIns="109728" tIns="73152" bIns="73152"/>
                    <a:lstStyle/>
                    <a:p>
                      <a:pPr>
                        <a:defRPr b="0" sz="12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5. Styling &amp; Wardrobe Match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2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16 / 25 — #5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640080" y="5852160"/>
            <a:ext cx="13350240" cy="128016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852160"/>
            <a:ext cx="73152" cy="1280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989320"/>
            <a:ext cx="12984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11D48"/>
                </a:solidFill>
              </a:defRPr>
            </a:pPr>
            <a:r>
              <a:t>Frequency ≠ priority. Fit wins because the affected users are closer to purchase, the friction is severe, and the problem is addressable without monetary incentives.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7589520"/>
            <a:ext cx="1335024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763524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Inter"/>
              </a:defRPr>
            </a:pPr>
            <a:r>
              <a:t>Myntra · Wishlist-to-Purchase Growth Case Study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7635240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475569"/>
                </a:solidFill>
                <a:latin typeface="Inter"/>
              </a:defRPr>
            </a:pPr>
            <a: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335024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E11D48"/>
                </a:solidFill>
                <a:latin typeface="Inter"/>
              </a:defRPr>
            </a:pPr>
            <a:r>
              <a:t>PRIMARY RESEARCH</a:t>
            </a:r>
          </a:p>
          <a:p>
            <a:pPr>
              <a:spcAft>
                <a:spcPts val="400"/>
              </a:spcAft>
              <a:defRPr sz="2200" b="1">
                <a:solidFill>
                  <a:srgbClr val="0F172A"/>
                </a:solidFill>
                <a:latin typeface="Inter"/>
              </a:defRPr>
            </a:pPr>
            <a:r>
              <a:t>Interviews narrowed the hypothesis: fit appeared in 5/6 journeys and was the primary blocker for 3/6.</a:t>
            </a:r>
          </a:p>
          <a:p>
            <a:pPr>
              <a:defRPr sz="1300">
                <a:solidFill>
                  <a:srgbClr val="475569"/>
                </a:solidFill>
                <a:latin typeface="Inter"/>
              </a:defRPr>
            </a:pPr>
            <a:r>
              <a:t>Six wishlist walkthroughs reconstructed the path from “saved” to “researched” to “delayed / bought” for near-term purchase intent.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4206240" cy="1188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73152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3931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5 / 6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mentioned fit or drape in decision journey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80" y="1828800"/>
            <a:ext cx="4206240" cy="118872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12080" y="1828800"/>
            <a:ext cx="73152" cy="118872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49240" y="1920240"/>
            <a:ext cx="3931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11D48"/>
                </a:solidFill>
              </a:defRPr>
            </a:pPr>
            <a:r>
              <a:t>3 / 6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identified fit/size as primary blocker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84080" y="1828800"/>
            <a:ext cx="4206240" cy="1188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784080" y="1828800"/>
            <a:ext cx="73152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21240" y="1920240"/>
            <a:ext cx="3931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6 / 6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used an outside-app workaround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0080" y="3291840"/>
          <a:ext cx="62179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743200"/>
                <a:gridCol w="2560320"/>
              </a:tblGrid>
              <a:tr h="574765">
                <a:tc>
                  <a:txBody>
                    <a:bodyPr lIns="109728" rIns="109728" tIns="73152" bIns="73152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P#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Wishlisted item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Primary blocker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</a:tr>
              <a:tr h="574765">
                <a:tc>
                  <a:txBody>
                    <a:bodyPr lIns="109728" rIns="109728" tIns="73152" bIns="73152"/>
                    <a:lstStyle/>
                    <a:p>
                      <a:pPr>
                        <a:defRPr b="0" sz="12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2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Roadster jeans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1" sz="1200">
                          <a:solidFill>
                            <a:srgbClr val="E11D48"/>
                          </a:solidFill>
                          <a:latin typeface="Inter"/>
                        </a:defRPr>
                      </a:pPr>
                      <a:r>
                        <a:t>Fit / size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74765">
                <a:tc>
                  <a:txBody>
                    <a:bodyPr lIns="109728" rIns="109728" tIns="73152" bIns="73152"/>
                    <a:lstStyle/>
                    <a:p>
                      <a:pPr>
                        <a:defRPr b="0" sz="12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2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Anouk dress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1" sz="1200">
                          <a:solidFill>
                            <a:srgbClr val="E11D48"/>
                          </a:solidFill>
                          <a:latin typeface="Inter"/>
                        </a:defRPr>
                      </a:pPr>
                      <a:r>
                        <a:t>Fit &amp; drape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 lIns="109728" rIns="109728" tIns="73152" bIns="73152"/>
                    <a:lstStyle/>
                    <a:p>
                      <a:pPr>
                        <a:defRPr b="0" sz="12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2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HRX shoes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2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Comparison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74765">
                <a:tc>
                  <a:txBody>
                    <a:bodyPr lIns="109728" rIns="109728" tIns="73152" bIns="73152"/>
                    <a:lstStyle/>
                    <a:p>
                      <a:pPr>
                        <a:defRPr b="0" sz="12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2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Libas kurti 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1" sz="1200">
                          <a:solidFill>
                            <a:srgbClr val="E11D48"/>
                          </a:solidFill>
                          <a:latin typeface="Inter"/>
                        </a:defRPr>
                      </a:pPr>
                      <a:r>
                        <a:t>Post-wash fit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 lIns="109728" rIns="109728" tIns="73152" bIns="73152"/>
                    <a:lstStyle/>
                    <a:p>
                      <a:pPr>
                        <a:defRPr b="0" sz="12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2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Allen Solly blazer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2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Fabric quality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74770">
                <a:tc>
                  <a:txBody>
                    <a:bodyPr lIns="109728" rIns="109728" tIns="73152" bIns="73152"/>
                    <a:lstStyle/>
                    <a:p>
                      <a:pPr>
                        <a:defRPr b="0" sz="12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2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Highlander cargos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2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Styling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7132320" y="3291840"/>
            <a:ext cx="685800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0" y="3291840"/>
            <a:ext cx="73152" cy="40233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347472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Observed workaround loop: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1. SAVE: </a:t>
            </a:r>
            <a:r>
              <a:rPr sz="1300">
                <a:solidFill>
                  <a:srgbClr val="334155"/>
                </a:solidFill>
              </a:rPr>
              <a:t>Specific item / size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2. LEAVE APP: </a:t>
            </a:r>
            <a:r>
              <a:rPr sz="1300">
                <a:solidFill>
                  <a:srgbClr val="334155"/>
                </a:solidFill>
              </a:rPr>
              <a:t>Reddit · YouTube · Instagram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3. TRIANGULATE: </a:t>
            </a:r>
            <a:r>
              <a:rPr sz="1300">
                <a:solidFill>
                  <a:srgbClr val="334155"/>
                </a:solidFill>
              </a:rPr>
              <a:t>Past orders · reviews · social proof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4. DELAY: </a:t>
            </a:r>
            <a:r>
              <a:rPr sz="1300">
                <a:solidFill>
                  <a:srgbClr val="334155"/>
                </a:solidFill>
              </a:rPr>
              <a:t>Still not confident enough to commit</a:t>
            </a:r>
          </a:p>
          <a:p>
            <a:pPr>
              <a:spcBef>
                <a:spcPts val="1000"/>
              </a:spcBef>
              <a:defRPr sz="1300" b="1" i="1">
                <a:solidFill>
                  <a:srgbClr val="E11D48"/>
                </a:solidFill>
              </a:defRPr>
            </a:pPr>
            <a:r>
              <a:t>“Roadster 30 is too tight; 32 slips off. I compared three previous orders.” — P1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7589520"/>
            <a:ext cx="1335024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763524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Inter"/>
              </a:defRPr>
            </a:pPr>
            <a:r>
              <a:t>Myntra · Wishlist-to-Purchase Growth Case Study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7635240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475569"/>
                </a:solidFill>
                <a:latin typeface="Inter"/>
              </a:defRPr>
            </a:pPr>
            <a: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335024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E11D48"/>
                </a:solidFill>
                <a:latin typeface="Inter"/>
              </a:defRPr>
            </a:pPr>
            <a:r>
              <a:t>PROBLEM DEFINITION</a:t>
            </a:r>
          </a:p>
          <a:p>
            <a:pPr>
              <a:spcAft>
                <a:spcPts val="400"/>
              </a:spcAft>
              <a:defRPr sz="2200" b="1">
                <a:solidFill>
                  <a:srgbClr val="0F172A"/>
                </a:solidFill>
                <a:latin typeface="Inter"/>
              </a:defRPr>
            </a:pPr>
            <a:r>
              <a:t>The root problem is not lack of desire — it is lack of trusted, personalized fit confidence at the commitment moment.</a:t>
            </a:r>
          </a:p>
          <a:p>
            <a:pPr>
              <a:defRPr sz="1300">
                <a:solidFill>
                  <a:srgbClr val="475569"/>
                </a:solidFill>
                <a:latin typeface="Inter"/>
              </a:defRPr>
            </a:pPr>
            <a:r>
              <a:t>The thinking narrows consistently from the business metric to a specific user, moment, root cause and product outcome.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3350240" cy="1280160"/>
          </a:xfrm>
          <a:prstGeom prst="roundRect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73152" cy="1280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2984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D97706"/>
                </a:solidFill>
              </a:rPr>
              <a:t>Problem Statement: </a:t>
            </a:r>
            <a:r>
              <a:rPr sz="1300">
                <a:solidFill>
                  <a:srgbClr val="FFFFFF"/>
                </a:solidFill>
              </a:rPr>
              <a:t>High-intent apparel shoppers with a near-term purchase goal delay moving a wishlisted item to Bag because they cannot confidently predict how their selected size will fit across brands — so they leave Myntra to triangulate fit from reviews, past orders and try-on content before committing.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91840"/>
            <a:ext cx="429768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347472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E11D48"/>
                </a:solidFill>
              </a:defRPr>
            </a:pPr>
            <a:r>
              <a:t>WHO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High-intent apparel shoppers with a near-term purchase goal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75504" y="3291840"/>
            <a:ext cx="429768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58384" y="347472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E11D48"/>
                </a:solidFill>
              </a:defRPr>
            </a:pPr>
            <a:r>
              <a:t>WHEN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Revisiting a specific saved SKU to decide “buy now or wait?”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10928" y="3291840"/>
            <a:ext cx="429768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93807" y="347472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E11D48"/>
                </a:solidFill>
              </a:defRPr>
            </a:pPr>
            <a:r>
              <a:t>ROOT CAUSE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Size labels are not trusted as personal, cross-brand fit evidence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303520"/>
            <a:ext cx="429768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548640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E11D48"/>
                </a:solidFill>
              </a:defRPr>
            </a:pPr>
            <a:r>
              <a:t>WORKAROUND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Reddit / YouTube / Instagram + comparing previous kept orders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75504" y="5303520"/>
            <a:ext cx="429768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58384" y="548640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E11D48"/>
                </a:solidFill>
              </a:defRPr>
            </a:pPr>
            <a:r>
              <a:t>USER VALUE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Decide fit without leaving Myntra or ordering “just to try”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10928" y="5303520"/>
            <a:ext cx="429768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93807" y="548640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E11D48"/>
                </a:solidFill>
              </a:defRPr>
            </a:pPr>
            <a:r>
              <a:t>BUSINESS VALUE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Increase Wishlist → Bag; fit accuracy may also reduce returns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7589520"/>
            <a:ext cx="1335024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763524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Inter"/>
              </a:defRPr>
            </a:pPr>
            <a:r>
              <a:t>Myntra · Wishlist-to-Purchase Growth Case Study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7635240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475569"/>
                </a:solidFill>
                <a:latin typeface="Inter"/>
              </a:defRPr>
            </a:pPr>
            <a: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335024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E11D48"/>
                </a:solidFill>
                <a:latin typeface="Inter"/>
              </a:defRPr>
            </a:pPr>
            <a:r>
              <a:t>SOLUTION RATIONALE</a:t>
            </a:r>
          </a:p>
          <a:p>
            <a:pPr>
              <a:spcAft>
                <a:spcPts val="400"/>
              </a:spcAft>
              <a:defRPr sz="2200" b="1">
                <a:solidFill>
                  <a:srgbClr val="0F172A"/>
                </a:solidFill>
                <a:latin typeface="Inter"/>
              </a:defRPr>
            </a:pPr>
            <a:r>
              <a:t>Smart Wishlist + FitCheck resolves the declared blocker inside the wishlist, then hands control back to the user.</a:t>
            </a:r>
          </a:p>
          <a:p>
            <a:pPr>
              <a:defRPr sz="1300">
                <a:solidFill>
                  <a:srgbClr val="475569"/>
                </a:solidFill>
                <a:latin typeface="Inter"/>
              </a:defRPr>
            </a:pPr>
            <a:r>
              <a:t>The core MVP is a decision-confidence loop — not a discount, coupon, or forced checkout nudge.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2523744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224942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1. FIT ANCHOR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Confirm kept size: Roadster 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46704" y="1828800"/>
            <a:ext cx="2523744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83864" y="1965960"/>
            <a:ext cx="224942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2. WAITING ON FIT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Declare blocker: Waiting on Fit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53328" y="1828800"/>
            <a:ext cx="2523744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90488" y="1965960"/>
            <a:ext cx="224942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3. FITCHECK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Explain + recommend signal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59951" y="1828800"/>
            <a:ext cx="2523744" cy="164592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97111" y="1965960"/>
            <a:ext cx="224942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E11D48"/>
                </a:solidFill>
              </a:defRPr>
            </a:pPr>
            <a:r>
              <a:t>4. READY TO BUY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Resolve condition state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66576" y="1828800"/>
            <a:ext cx="2523744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03736" y="1965960"/>
            <a:ext cx="224942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5. MOVE TO BAG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Shopper commits &amp; acts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49039"/>
            <a:ext cx="6492240" cy="292608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931920"/>
            <a:ext cx="6126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Why this fits the brief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No subsidy. No coupon. The value is informational: translate fit evidence into a personal recommendation, then let the shopper decide.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49039"/>
            <a:ext cx="6492240" cy="292608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3931920"/>
            <a:ext cx="6126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D97706"/>
                </a:solidFill>
              </a:defRPr>
            </a:pPr>
            <a:r>
              <a:t>Scope discipline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Price / Both are expansion modes in the prototype. The causal experiment isolates Fit-only.</a:t>
            </a:r>
          </a:p>
        </p:txBody>
      </p:sp>
      <p:sp>
        <p:nvSpPr>
          <p:cNvPr id="18" name="Rounded Rectangle 17">
            <a:hlinkClick r:id="rId2"/>
          </p:cNvPr>
          <p:cNvSpPr/>
          <p:nvPr/>
        </p:nvSpPr>
        <p:spPr>
          <a:xfrm>
            <a:off x="11247120" y="6858000"/>
            <a:ext cx="2743200" cy="54864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Inter"/>
              </a:defRPr>
            </a:pPr>
            <a:r>
              <a:t>Launch live MVP 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7589520"/>
            <a:ext cx="1335024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763524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Inter"/>
              </a:defRPr>
            </a:pPr>
            <a:r>
              <a:t>Myntra · Wishlist-to-Purchase Growth Case Study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7635240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475569"/>
                </a:solidFill>
                <a:latin typeface="Inter"/>
              </a:defRPr>
            </a:pPr>
            <a: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335024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E11D48"/>
                </a:solidFill>
                <a:latin typeface="Inter"/>
              </a:defRPr>
            </a:pPr>
            <a:r>
              <a:t>DEPLOYED MVP</a:t>
            </a:r>
          </a:p>
          <a:p>
            <a:pPr>
              <a:spcAft>
                <a:spcPts val="400"/>
              </a:spcAft>
              <a:defRPr sz="2200" b="1">
                <a:solidFill>
                  <a:srgbClr val="0F172A"/>
                </a:solidFill>
                <a:latin typeface="Inter"/>
              </a:defRPr>
            </a:pPr>
            <a:r>
              <a:t>The deployed MVP is intentionally thin: it proves the decision-resolution loop before investing in real fit ML.</a:t>
            </a:r>
          </a:p>
          <a:p>
            <a:pPr>
              <a:defRPr sz="1300">
                <a:solidFill>
                  <a:srgbClr val="475569"/>
                </a:solidFill>
                <a:latin typeface="Inter"/>
              </a:defRPr>
            </a:pPr>
            <a:r>
              <a:t>A top-scoring MVP is explicit about what is functional, what is simulated, and exactly what learning it unlocks.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64922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6126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Functional in the live prototype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✓ Set and save a Fit Anchor profile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✓ Declare the blocker: Fit / Price / Both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✓ Run a FitCheck decision event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✓ Transition the item to “Ready to Buy”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✓ Move the resolved item to Bag</a:t>
            </a:r>
          </a:p>
        </p:txBody>
      </p:sp>
      <p:sp>
        <p:nvSpPr>
          <p:cNvPr id="6" name="Rounded Rectangle 5">
            <a:hlinkClick r:id="rId2"/>
          </p:cNvPr>
          <p:cNvSpPr/>
          <p:nvPr/>
        </p:nvSpPr>
        <p:spPr>
          <a:xfrm>
            <a:off x="822960" y="5394960"/>
            <a:ext cx="2560320" cy="54864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Inter"/>
              </a:defRPr>
            </a:pPr>
            <a:r>
              <a:t>Test live MVP 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828800"/>
            <a:ext cx="6492240" cy="4389120"/>
          </a:xfrm>
          <a:prstGeom prst="roundRect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2011680"/>
            <a:ext cx="6126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7706"/>
                </a:solidFill>
              </a:defRPr>
            </a:pPr>
            <a:r>
              <a:t>Not production-ready yet — by design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Real order / return-history ingestion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Production fit model + category calibration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Live inventory / price event integrations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Notification preferences + caps</a:t>
            </a:r>
          </a:p>
          <a:p>
            <a:pPr>
              <a:spcBef>
                <a:spcPts val="1000"/>
              </a:spcBef>
              <a:defRPr sz="1300" b="1">
                <a:solidFill>
                  <a:srgbClr val="D97706"/>
                </a:solidFill>
              </a:defRPr>
            </a:pPr>
            <a:r>
              <a:t>Transparency prevents “prototype theatre”: MVP validates mechanism.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6400800"/>
            <a:ext cx="13350240" cy="914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537960"/>
            <a:ext cx="12984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60-second evaluator path: [1] Set anchor → [2] Choose Fit → [3] Run FitCheck → [4] See Ready → [5] Move to Bag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7589520"/>
            <a:ext cx="1335024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763524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Inter"/>
              </a:defRPr>
            </a:pPr>
            <a:r>
              <a:t>Myntra · Wishlist-to-Purchase Growth Case Study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7635240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475569"/>
                </a:solidFill>
                <a:latin typeface="Inter"/>
              </a:defRPr>
            </a:pPr>
            <a:r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335024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E11D48"/>
                </a:solidFill>
                <a:latin typeface="Inter"/>
              </a:defRPr>
            </a:pPr>
            <a:r>
              <a:t>DEFINE SUCCESS</a:t>
            </a:r>
          </a:p>
          <a:p>
            <a:pPr>
              <a:spcAft>
                <a:spcPts val="400"/>
              </a:spcAft>
              <a:defRPr sz="2200" b="1">
                <a:solidFill>
                  <a:srgbClr val="0F172A"/>
                </a:solidFill>
                <a:latin typeface="Inter"/>
              </a:defRPr>
            </a:pPr>
            <a:r>
              <a:t>Success is a causal lift in 30-day wishlist buyers, with faster fit-to-bag progression and no return penalty.</a:t>
            </a:r>
          </a:p>
          <a:p>
            <a:pPr>
              <a:defRPr sz="1300">
                <a:solidFill>
                  <a:srgbClr val="475569"/>
                </a:solidFill>
                <a:latin typeface="Inter"/>
              </a:defRPr>
            </a:pPr>
            <a:r>
              <a:t>The metric stack separates business impact, mechanism validation, leading indicators and guardrails — each with a clear decision use.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4297680" cy="1371600"/>
          </a:xfrm>
          <a:prstGeom prst="roundRect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965960"/>
            <a:ext cx="3931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</a:defRPr>
            </a:pPr>
            <a:r>
              <a:t>BUSINESS METRIC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30-Day Wishlist Buyer Conversion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75504" y="1828800"/>
            <a:ext cx="4297680" cy="137160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58384" y="1965960"/>
            <a:ext cx="3931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</a:defRPr>
            </a:pPr>
            <a:r>
              <a:t>PRIMARY MECHANISM</a:t>
            </a:r>
          </a:p>
          <a:p>
            <a:pPr>
              <a:defRPr sz="1600" b="1">
                <a:solidFill>
                  <a:srgbClr val="FFF1F2"/>
                </a:solidFill>
              </a:defRPr>
            </a:pPr>
            <a:r>
              <a:t>Fit-Resolved → Bag within 72h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10928" y="1828800"/>
            <a:ext cx="4297680" cy="13716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93807" y="1965960"/>
            <a:ext cx="3931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</a:defRPr>
            </a:pPr>
            <a:r>
              <a:t>KEY GUARDRAIL</a:t>
            </a:r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Fit-related return rate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3474720"/>
          <a:ext cx="13350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5486400"/>
                <a:gridCol w="4937760"/>
              </a:tblGrid>
              <a:tr h="768096">
                <a:tc>
                  <a:txBody>
                    <a:bodyPr lIns="109728" rIns="109728" tIns="73152" bIns="73152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Why it matters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</a:tr>
              <a:tr h="768096">
                <a:tc>
                  <a:txBody>
                    <a:bodyPr lIns="109728" rIns="109728" tIns="73152" bIns="73152"/>
                    <a:lstStyle/>
                    <a:p>
                      <a:pPr>
                        <a:defRPr b="1" sz="12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Anchor adoption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2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% fit-tagged users with a usable fit anchor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2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Can users reach the value moment?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68096">
                <a:tc>
                  <a:txBody>
                    <a:bodyPr lIns="109728" rIns="109728" tIns="73152" bIns="73152"/>
                    <a:lstStyle/>
                    <a:p>
                      <a:pPr>
                        <a:defRPr b="1" sz="12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Fit resolution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2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% FitChecks returning a decisive recommendation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2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Does system actually resolve uncertainty?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 lIns="109728" rIns="109728" tIns="73152" bIns="73152"/>
                    <a:lstStyle/>
                    <a:p>
                      <a:pPr>
                        <a:defRPr b="1" sz="12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Median wishlist → Bag time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2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Hours from wishlist add to Bag for fit cohort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2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Is decision latency shrinking?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68096">
                <a:tc>
                  <a:txBody>
                    <a:bodyPr lIns="109728" rIns="109728" tIns="73152" bIns="73152"/>
                    <a:lstStyle/>
                    <a:p>
                      <a:pPr>
                        <a:defRPr b="1" sz="12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Wishlist add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2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Eligible users adding ≥1 item to wishlist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2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Ensure extra friction does not suppress saving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40080" y="7589520"/>
            <a:ext cx="1335024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763524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Inter"/>
              </a:defRPr>
            </a:pPr>
            <a:r>
              <a:t>Myntra · Wishlist-to-Purchase Growth Case Study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7635240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475569"/>
                </a:solidFill>
                <a:latin typeface="Inter"/>
              </a:defRPr>
            </a:pPr>
            <a:r>
              <a:t>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335024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E11D48"/>
                </a:solidFill>
                <a:latin typeface="Inter"/>
              </a:defRPr>
            </a:pPr>
            <a:r>
              <a:t>RISKS &amp; MITIGATION</a:t>
            </a:r>
          </a:p>
          <a:p>
            <a:pPr>
              <a:spcAft>
                <a:spcPts val="400"/>
              </a:spcAft>
              <a:defRPr sz="2200" b="1">
                <a:solidFill>
                  <a:srgbClr val="0F172A"/>
                </a:solidFill>
                <a:latin typeface="Inter"/>
              </a:defRPr>
            </a:pPr>
            <a:r>
              <a:t>The biggest failure mode is false confidence; rollout should privilege abstention, trust and learning over reach.</a:t>
            </a:r>
          </a:p>
          <a:p>
            <a:pPr>
              <a:defRPr sz="1300">
                <a:solidFill>
                  <a:srgbClr val="475569"/>
                </a:solidFill>
                <a:latin typeface="Inter"/>
              </a:defRPr>
            </a:pPr>
            <a:r>
              <a:t>The solution fails if it pushes users faster into wrong-size orders, creates setup friction, or generalizes a narrow research sample too aggressively.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828800"/>
          <a:ext cx="13350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097280"/>
                <a:gridCol w="4389120"/>
                <a:gridCol w="4572000"/>
              </a:tblGrid>
              <a:tr h="804672">
                <a:tc>
                  <a:txBody>
                    <a:bodyPr lIns="109728" rIns="109728" tIns="73152" bIns="73152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Why it could happen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Mitigation / rollout gate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</a:tr>
              <a:tr h="804672">
                <a:tc>
                  <a:txBody>
                    <a:bodyPr lIns="109728" rIns="109728" tIns="73152" bIns="73152"/>
                    <a:lstStyle/>
                    <a:p>
                      <a:pPr>
                        <a:defRPr b="1" sz="12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False fit confidence → returns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1" sz="1200">
                          <a:solidFill>
                            <a:srgbClr val="E11D48"/>
                          </a:solidFill>
                          <a:latin typeface="Inter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2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Overconfident reasoning without measurement truth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2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Confidence bands + "not enough evidence" state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04672">
                <a:tc>
                  <a:txBody>
                    <a:bodyPr lIns="109728" rIns="109728" tIns="73152" bIns="73152"/>
                    <a:lstStyle/>
                    <a:p>
                      <a:pPr>
                        <a:defRPr b="1" sz="12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Fit Anchor setup friction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1" sz="1200">
                          <a:solidFill>
                            <a:srgbClr val="D97706"/>
                          </a:solidFill>
                          <a:latin typeface="Inter"/>
                        </a:defRPr>
                      </a:pPr>
                      <a:r>
                        <a:t>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2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Manual multi-field setup delays 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2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Auto-suggest from kept orders contextually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 lIns="109728" rIns="109728" tIns="73152" bIns="73152"/>
                    <a:lstStyle/>
                    <a:p>
                      <a:pPr>
                        <a:defRPr b="1" sz="12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Cold start / sparse brand data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1" sz="1200">
                          <a:solidFill>
                            <a:srgbClr val="E11D48"/>
                          </a:solidFill>
                          <a:latin typeface="Inter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2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New brands/categories lack evidence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2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Blend size charts + material; abstain below threshold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04672">
                <a:tc>
                  <a:txBody>
                    <a:bodyPr lIns="109728" rIns="109728" tIns="73152" bIns="73152"/>
                    <a:lstStyle/>
                    <a:p>
                      <a:pPr>
                        <a:defRPr b="1" sz="12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Research sample does not generalize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1" sz="1200">
                          <a:solidFill>
                            <a:srgbClr val="D97706"/>
                          </a:solidFill>
                          <a:latin typeface="Inter"/>
                        </a:defRPr>
                      </a:pPr>
                      <a:r>
                        <a:t>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2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6 interviews are directional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2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User-level A/B test before full rollout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40080" y="6035040"/>
            <a:ext cx="13350240" cy="1280160"/>
          </a:xfrm>
          <a:prstGeom prst="roundRect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035040"/>
            <a:ext cx="73152" cy="1280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172200"/>
            <a:ext cx="12984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Rollout principle: Earn trust before reach: offline calibration → Fit-only pilot → category expansion. “A wishlist should manage the decision, not just remember the product.”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7589520"/>
            <a:ext cx="1335024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763524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Inter"/>
              </a:defRPr>
            </a:pPr>
            <a:r>
              <a:t>Myntra · Wishlist-to-Purchase Growth Case Study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7635240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475569"/>
                </a:solidFill>
                <a:latin typeface="Inter"/>
              </a:defRPr>
            </a:pPr>
            <a:r>
              <a:t>Slide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